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57" r:id="rId6"/>
    <p:sldId id="268" r:id="rId7"/>
    <p:sldId id="258" r:id="rId8"/>
    <p:sldId id="259" r:id="rId9"/>
    <p:sldId id="260" r:id="rId10"/>
    <p:sldId id="261" r:id="rId11"/>
    <p:sldId id="262" r:id="rId12"/>
    <p:sldId id="263" r:id="rId13"/>
    <p:sldId id="264" r:id="rId14"/>
    <p:sldId id="265" r:id="rId15"/>
    <p:sldId id="266" r:id="rId16"/>
    <p:sldId id="269" r:id="rId17"/>
    <p:sldId id="267" r:id="rId18"/>
    <p:sldId id="270" r:id="rId19"/>
    <p:sldId id="271" r:id="rId20"/>
    <p:sldId id="272" r:id="rId21"/>
    <p:sldId id="273" r:id="rId22"/>
    <p:sldId id="274" r:id="rId23"/>
    <p:sldId id="276" r:id="rId24"/>
    <p:sldId id="275" r:id="rId25"/>
    <p:sldId id="277" r:id="rId26"/>
    <p:sldId id="278"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1F8DD8-BB65-41BD-8C87-8CF11F400F5F}" v="25" dt="2023-10-23T15:44:09.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3" autoAdjust="0"/>
    <p:restoredTop sz="94660"/>
  </p:normalViewPr>
  <p:slideViewPr>
    <p:cSldViewPr snapToGrid="0">
      <p:cViewPr varScale="1">
        <p:scale>
          <a:sx n="113" d="100"/>
          <a:sy n="113" d="100"/>
        </p:scale>
        <p:origin x="20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B86655C-D8D6-4078-B08A-D8F3EA8EC2F8}" type="datetimeFigureOut">
              <a:rPr lang="en-US" smtClean="0"/>
              <a:t>10/19/26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6F6FB90-012E-4C9A-B1B5-5BB9AE14558C}" type="slidenum">
              <a:rPr lang="en-US" smtClean="0"/>
              <a:t>‹#›</a:t>
            </a:fld>
            <a:endParaRPr lang="en-US"/>
          </a:p>
        </p:txBody>
      </p:sp>
    </p:spTree>
    <p:extLst>
      <p:ext uri="{BB962C8B-B14F-4D97-AF65-F5344CB8AC3E}">
        <p14:creationId xmlns:p14="http://schemas.microsoft.com/office/powerpoint/2010/main" val="32363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86655C-D8D6-4078-B08A-D8F3EA8EC2F8}"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3692948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B86655C-D8D6-4078-B08A-D8F3EA8EC2F8}" type="datetimeFigureOut">
              <a:rPr lang="en-US" smtClean="0"/>
              <a:t>10/19/26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6F6FB90-012E-4C9A-B1B5-5BB9AE14558C}" type="slidenum">
              <a:rPr lang="en-US" smtClean="0"/>
              <a:t>‹#›</a:t>
            </a:fld>
            <a:endParaRPr lang="en-US"/>
          </a:p>
        </p:txBody>
      </p:sp>
    </p:spTree>
    <p:extLst>
      <p:ext uri="{BB962C8B-B14F-4D97-AF65-F5344CB8AC3E}">
        <p14:creationId xmlns:p14="http://schemas.microsoft.com/office/powerpoint/2010/main" val="3027541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86655C-D8D6-4078-B08A-D8F3EA8EC2F8}"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3129162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86655C-D8D6-4078-B08A-D8F3EA8EC2F8}"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397355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B86655C-D8D6-4078-B08A-D8F3EA8EC2F8}"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F6FB90-012E-4C9A-B1B5-5BB9AE14558C}"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63430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86655C-D8D6-4078-B08A-D8F3EA8EC2F8}"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2233609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B86655C-D8D6-4078-B08A-D8F3EA8EC2F8}" type="datetimeFigureOut">
              <a:rPr lang="en-US" smtClean="0"/>
              <a:t>10/19/26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6F6FB90-012E-4C9A-B1B5-5BB9AE14558C}" type="slidenum">
              <a:rPr lang="en-US" smtClean="0"/>
              <a:t>‹#›</a:t>
            </a:fld>
            <a:endParaRPr lang="en-US"/>
          </a:p>
        </p:txBody>
      </p:sp>
    </p:spTree>
    <p:extLst>
      <p:ext uri="{BB962C8B-B14F-4D97-AF65-F5344CB8AC3E}">
        <p14:creationId xmlns:p14="http://schemas.microsoft.com/office/powerpoint/2010/main" val="394639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86655C-D8D6-4078-B08A-D8F3EA8EC2F8}"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2803572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86655C-D8D6-4078-B08A-D8F3EA8EC2F8}"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6FB90-012E-4C9A-B1B5-5BB9AE14558C}" type="slidenum">
              <a:rPr lang="en-US" smtClean="0"/>
              <a:t>‹#›</a:t>
            </a:fld>
            <a:endParaRPr lang="en-US"/>
          </a:p>
        </p:txBody>
      </p:sp>
    </p:spTree>
    <p:extLst>
      <p:ext uri="{BB962C8B-B14F-4D97-AF65-F5344CB8AC3E}">
        <p14:creationId xmlns:p14="http://schemas.microsoft.com/office/powerpoint/2010/main" val="392799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B86655C-D8D6-4078-B08A-D8F3EA8EC2F8}" type="datetimeFigureOut">
              <a:rPr lang="en-US" smtClean="0"/>
              <a:t>10/19/26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6F6FB90-012E-4C9A-B1B5-5BB9AE14558C}" type="slidenum">
              <a:rPr lang="en-US" smtClean="0"/>
              <a:t>‹#›</a:t>
            </a:fld>
            <a:endParaRPr lang="en-US"/>
          </a:p>
        </p:txBody>
      </p:sp>
    </p:spTree>
    <p:extLst>
      <p:ext uri="{BB962C8B-B14F-4D97-AF65-F5344CB8AC3E}">
        <p14:creationId xmlns:p14="http://schemas.microsoft.com/office/powerpoint/2010/main" val="585299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B86655C-D8D6-4078-B08A-D8F3EA8EC2F8}" type="datetimeFigureOut">
              <a:rPr lang="en-US" smtClean="0"/>
              <a:t>10/19/26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6F6FB90-012E-4C9A-B1B5-5BB9AE14558C}"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5225145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D2EE-8D85-FF54-A58C-03EA52C2BE42}"/>
              </a:ext>
            </a:extLst>
          </p:cNvPr>
          <p:cNvSpPr>
            <a:spLocks noGrp="1"/>
          </p:cNvSpPr>
          <p:nvPr>
            <p:ph type="ctrTitle"/>
          </p:nvPr>
        </p:nvSpPr>
        <p:spPr/>
        <p:txBody>
          <a:bodyPr/>
          <a:lstStyle/>
          <a:p>
            <a:r>
              <a:rPr lang="en-US" dirty="0"/>
              <a:t>Classification</a:t>
            </a:r>
          </a:p>
        </p:txBody>
      </p:sp>
      <p:sp>
        <p:nvSpPr>
          <p:cNvPr id="3" name="Subtitle 2">
            <a:extLst>
              <a:ext uri="{FF2B5EF4-FFF2-40B4-BE49-F238E27FC236}">
                <a16:creationId xmlns:a16="http://schemas.microsoft.com/office/drawing/2014/main" id="{379EA472-7AFC-728A-C6B4-1397AFC2831F}"/>
              </a:ext>
            </a:extLst>
          </p:cNvPr>
          <p:cNvSpPr>
            <a:spLocks noGrp="1"/>
          </p:cNvSpPr>
          <p:nvPr>
            <p:ph type="subTitle" idx="1"/>
          </p:nvPr>
        </p:nvSpPr>
        <p:spPr/>
        <p:txBody>
          <a:bodyPr/>
          <a:lstStyle/>
          <a:p>
            <a:r>
              <a:rPr lang="en-US" dirty="0"/>
              <a:t>CSCI 4047</a:t>
            </a:r>
          </a:p>
        </p:txBody>
      </p:sp>
    </p:spTree>
    <p:extLst>
      <p:ext uri="{BB962C8B-B14F-4D97-AF65-F5344CB8AC3E}">
        <p14:creationId xmlns:p14="http://schemas.microsoft.com/office/powerpoint/2010/main" val="1275145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E3BD7-8292-6CC6-A8CA-CC423E431B19}"/>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F1A02779-EABE-F869-855A-F7887B1836CD}"/>
              </a:ext>
            </a:extLst>
          </p:cNvPr>
          <p:cNvSpPr>
            <a:spLocks noGrp="1"/>
          </p:cNvSpPr>
          <p:nvPr>
            <p:ph idx="1"/>
          </p:nvPr>
        </p:nvSpPr>
        <p:spPr/>
        <p:txBody>
          <a:bodyPr/>
          <a:lstStyle/>
          <a:p>
            <a:r>
              <a:rPr lang="en-US" dirty="0"/>
              <a:t>Basic concepts of </a:t>
            </a:r>
            <a:r>
              <a:rPr lang="en-US" b="1" dirty="0"/>
              <a:t>classification</a:t>
            </a:r>
          </a:p>
          <a:p>
            <a:r>
              <a:rPr lang="en-US" b="1" dirty="0"/>
              <a:t>Decision Trees</a:t>
            </a:r>
          </a:p>
          <a:p>
            <a:r>
              <a:rPr lang="en-US" b="1" dirty="0"/>
              <a:t>Naïve Bayes</a:t>
            </a:r>
          </a:p>
          <a:p>
            <a:r>
              <a:rPr lang="en-US" b="1" dirty="0"/>
              <a:t>Model Evaluation and Selection</a:t>
            </a:r>
          </a:p>
          <a:p>
            <a:pPr lvl="1"/>
            <a:r>
              <a:rPr lang="en-US" b="1" dirty="0"/>
              <a:t>Recall</a:t>
            </a:r>
          </a:p>
          <a:p>
            <a:pPr lvl="1"/>
            <a:r>
              <a:rPr lang="en-US" b="1" dirty="0"/>
              <a:t>Precision</a:t>
            </a:r>
          </a:p>
          <a:p>
            <a:pPr lvl="1"/>
            <a:r>
              <a:rPr lang="en-US" b="1" dirty="0"/>
              <a:t>F-Score</a:t>
            </a:r>
            <a:endParaRPr lang="en-US" dirty="0"/>
          </a:p>
        </p:txBody>
      </p:sp>
    </p:spTree>
    <p:extLst>
      <p:ext uri="{BB962C8B-B14F-4D97-AF65-F5344CB8AC3E}">
        <p14:creationId xmlns:p14="http://schemas.microsoft.com/office/powerpoint/2010/main" val="607337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7BB1-BCBF-B4D7-425E-43D61094EC57}"/>
              </a:ext>
            </a:extLst>
          </p:cNvPr>
          <p:cNvSpPr>
            <a:spLocks noGrp="1"/>
          </p:cNvSpPr>
          <p:nvPr>
            <p:ph type="title"/>
          </p:nvPr>
        </p:nvSpPr>
        <p:spPr/>
        <p:txBody>
          <a:bodyPr/>
          <a:lstStyle/>
          <a:p>
            <a:r>
              <a:rPr lang="en-US" dirty="0"/>
              <a:t>Basic Concepts of Classification</a:t>
            </a:r>
          </a:p>
        </p:txBody>
      </p:sp>
      <p:sp>
        <p:nvSpPr>
          <p:cNvPr id="3" name="Text Placeholder 2">
            <a:extLst>
              <a:ext uri="{FF2B5EF4-FFF2-40B4-BE49-F238E27FC236}">
                <a16:creationId xmlns:a16="http://schemas.microsoft.com/office/drawing/2014/main" id="{160F3A82-4E7B-F9CD-7632-4F77260CEAFE}"/>
              </a:ext>
            </a:extLst>
          </p:cNvPr>
          <p:cNvSpPr>
            <a:spLocks noGrp="1"/>
          </p:cNvSpPr>
          <p:nvPr>
            <p:ph type="body" idx="1"/>
          </p:nvPr>
        </p:nvSpPr>
        <p:spPr/>
        <p:txBody>
          <a:bodyPr/>
          <a:lstStyle/>
          <a:p>
            <a:r>
              <a:rPr lang="en-US" dirty="0"/>
              <a:t>It’s basic – not acidic.</a:t>
            </a:r>
          </a:p>
        </p:txBody>
      </p:sp>
    </p:spTree>
    <p:extLst>
      <p:ext uri="{BB962C8B-B14F-4D97-AF65-F5344CB8AC3E}">
        <p14:creationId xmlns:p14="http://schemas.microsoft.com/office/powerpoint/2010/main" val="1569184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6323-6A05-FE2E-0465-DF2FFA16B52A}"/>
              </a:ext>
            </a:extLst>
          </p:cNvPr>
          <p:cNvSpPr>
            <a:spLocks noGrp="1"/>
          </p:cNvSpPr>
          <p:nvPr>
            <p:ph type="title"/>
          </p:nvPr>
        </p:nvSpPr>
        <p:spPr/>
        <p:txBody>
          <a:bodyPr/>
          <a:lstStyle/>
          <a:p>
            <a:r>
              <a:rPr lang="en-US" dirty="0"/>
              <a:t>Example Application</a:t>
            </a:r>
          </a:p>
        </p:txBody>
      </p:sp>
      <p:sp>
        <p:nvSpPr>
          <p:cNvPr id="3" name="Content Placeholder 2">
            <a:extLst>
              <a:ext uri="{FF2B5EF4-FFF2-40B4-BE49-F238E27FC236}">
                <a16:creationId xmlns:a16="http://schemas.microsoft.com/office/drawing/2014/main" id="{BB751E7E-F31E-06F7-FBA5-CCCAE8E19ADD}"/>
              </a:ext>
            </a:extLst>
          </p:cNvPr>
          <p:cNvSpPr>
            <a:spLocks noGrp="1"/>
          </p:cNvSpPr>
          <p:nvPr>
            <p:ph idx="1"/>
          </p:nvPr>
        </p:nvSpPr>
        <p:spPr/>
        <p:txBody>
          <a:bodyPr>
            <a:normAutofit/>
          </a:bodyPr>
          <a:lstStyle/>
          <a:p>
            <a:r>
              <a:rPr lang="en-US" dirty="0"/>
              <a:t>A credit card company receives thousands of applications for new credit cards. Each application contains information about the applicant:</a:t>
            </a:r>
          </a:p>
          <a:p>
            <a:pPr lvl="1"/>
            <a:r>
              <a:rPr lang="en-US" dirty="0"/>
              <a:t>Age</a:t>
            </a:r>
          </a:p>
          <a:p>
            <a:pPr lvl="1"/>
            <a:r>
              <a:rPr lang="en-US" dirty="0"/>
              <a:t>Marital Status</a:t>
            </a:r>
          </a:p>
          <a:p>
            <a:pPr lvl="1"/>
            <a:r>
              <a:rPr lang="en-US" dirty="0"/>
              <a:t>Annual Salary</a:t>
            </a:r>
          </a:p>
          <a:p>
            <a:pPr lvl="1"/>
            <a:r>
              <a:rPr lang="en-US" dirty="0"/>
              <a:t>Outstanding Debts</a:t>
            </a:r>
          </a:p>
          <a:p>
            <a:pPr lvl="1"/>
            <a:r>
              <a:rPr lang="en-US" dirty="0"/>
              <a:t>Credit Rating</a:t>
            </a:r>
          </a:p>
          <a:p>
            <a:pPr lvl="1"/>
            <a:r>
              <a:rPr lang="en-US" dirty="0"/>
              <a:t>Etc.</a:t>
            </a:r>
          </a:p>
          <a:p>
            <a:r>
              <a:rPr lang="en-US" u="sng" dirty="0"/>
              <a:t>Problem</a:t>
            </a:r>
            <a:r>
              <a:rPr lang="en-US" dirty="0"/>
              <a:t>: to decide whether an application should be approved </a:t>
            </a:r>
            <a:r>
              <a:rPr lang="en-US" dirty="0">
                <a:sym typeface="Wingdings" panose="05000000000000000000" pitchFamily="2" charset="2"/>
              </a:rPr>
              <a:t> </a:t>
            </a:r>
            <a:r>
              <a:rPr lang="en-US" b="1" dirty="0">
                <a:sym typeface="Wingdings" panose="05000000000000000000" pitchFamily="2" charset="2"/>
              </a:rPr>
              <a:t>CLASSIFY</a:t>
            </a:r>
            <a:r>
              <a:rPr lang="en-US" dirty="0">
                <a:sym typeface="Wingdings" panose="05000000000000000000" pitchFamily="2" charset="2"/>
              </a:rPr>
              <a:t> the application into two categories: </a:t>
            </a:r>
            <a:r>
              <a:rPr lang="en-US" b="1" dirty="0">
                <a:sym typeface="Wingdings" panose="05000000000000000000" pitchFamily="2" charset="2"/>
              </a:rPr>
              <a:t>approved</a:t>
            </a:r>
            <a:r>
              <a:rPr lang="en-US" dirty="0">
                <a:sym typeface="Wingdings" panose="05000000000000000000" pitchFamily="2" charset="2"/>
              </a:rPr>
              <a:t> or </a:t>
            </a:r>
            <a:r>
              <a:rPr lang="en-US" b="1" dirty="0">
                <a:sym typeface="Wingdings" panose="05000000000000000000" pitchFamily="2" charset="2"/>
              </a:rPr>
              <a:t>not</a:t>
            </a:r>
            <a:r>
              <a:rPr lang="en-US" dirty="0">
                <a:sym typeface="Wingdings" panose="05000000000000000000" pitchFamily="2" charset="2"/>
              </a:rPr>
              <a:t> </a:t>
            </a:r>
            <a:r>
              <a:rPr lang="en-US" b="1" dirty="0">
                <a:sym typeface="Wingdings" panose="05000000000000000000" pitchFamily="2" charset="2"/>
              </a:rPr>
              <a:t>approved</a:t>
            </a:r>
            <a:endParaRPr lang="en-US" b="1" dirty="0"/>
          </a:p>
        </p:txBody>
      </p:sp>
    </p:spTree>
    <p:extLst>
      <p:ext uri="{BB962C8B-B14F-4D97-AF65-F5344CB8AC3E}">
        <p14:creationId xmlns:p14="http://schemas.microsoft.com/office/powerpoint/2010/main" val="1284218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0DD7C-2902-F42F-7C99-C75C9856EF6B}"/>
              </a:ext>
            </a:extLst>
          </p:cNvPr>
          <p:cNvSpPr>
            <a:spLocks noGrp="1"/>
          </p:cNvSpPr>
          <p:nvPr>
            <p:ph type="title"/>
          </p:nvPr>
        </p:nvSpPr>
        <p:spPr/>
        <p:txBody>
          <a:bodyPr/>
          <a:lstStyle/>
          <a:p>
            <a:r>
              <a:rPr lang="en-US" dirty="0"/>
              <a:t>Machine Learning and Our Focus</a:t>
            </a:r>
          </a:p>
        </p:txBody>
      </p:sp>
      <p:sp>
        <p:nvSpPr>
          <p:cNvPr id="3" name="Content Placeholder 2">
            <a:extLst>
              <a:ext uri="{FF2B5EF4-FFF2-40B4-BE49-F238E27FC236}">
                <a16:creationId xmlns:a16="http://schemas.microsoft.com/office/drawing/2014/main" id="{9EB93C48-C75E-1D74-5DD6-B4702979B87C}"/>
              </a:ext>
            </a:extLst>
          </p:cNvPr>
          <p:cNvSpPr>
            <a:spLocks noGrp="1"/>
          </p:cNvSpPr>
          <p:nvPr>
            <p:ph idx="1"/>
          </p:nvPr>
        </p:nvSpPr>
        <p:spPr/>
        <p:txBody>
          <a:bodyPr/>
          <a:lstStyle/>
          <a:p>
            <a:r>
              <a:rPr lang="en-US" dirty="0"/>
              <a:t>People learn from experiences</a:t>
            </a:r>
          </a:p>
          <a:p>
            <a:r>
              <a:rPr lang="en-US" dirty="0"/>
              <a:t>Computer system learns from data</a:t>
            </a:r>
          </a:p>
          <a:p>
            <a:r>
              <a:rPr lang="en-US" b="1" dirty="0"/>
              <a:t>Our focus</a:t>
            </a:r>
            <a:r>
              <a:rPr lang="en-US" dirty="0"/>
              <a:t>: learn a target function that can be used to predict the values of a discrete class attribute (e.g., approved or not approved) and high-risk or low-risk</a:t>
            </a:r>
          </a:p>
          <a:p>
            <a:r>
              <a:rPr lang="en-US" dirty="0"/>
              <a:t>This task is often called </a:t>
            </a:r>
            <a:r>
              <a:rPr lang="en-US" b="1" i="1" dirty="0"/>
              <a:t>supervised learning </a:t>
            </a:r>
            <a:r>
              <a:rPr lang="en-US" dirty="0"/>
              <a:t>or </a:t>
            </a:r>
            <a:r>
              <a:rPr lang="en-US" b="1" i="1" dirty="0"/>
              <a:t>classification</a:t>
            </a:r>
          </a:p>
        </p:txBody>
      </p:sp>
    </p:spTree>
    <p:extLst>
      <p:ext uri="{BB962C8B-B14F-4D97-AF65-F5344CB8AC3E}">
        <p14:creationId xmlns:p14="http://schemas.microsoft.com/office/powerpoint/2010/main" val="2365817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A4B4-46E2-7769-003B-37C971BC2DCF}"/>
              </a:ext>
            </a:extLst>
          </p:cNvPr>
          <p:cNvSpPr>
            <a:spLocks noGrp="1"/>
          </p:cNvSpPr>
          <p:nvPr>
            <p:ph type="title"/>
          </p:nvPr>
        </p:nvSpPr>
        <p:spPr/>
        <p:txBody>
          <a:bodyPr/>
          <a:lstStyle/>
          <a:p>
            <a:r>
              <a:rPr lang="en-US" dirty="0"/>
              <a:t>Data and the Goal</a:t>
            </a:r>
          </a:p>
        </p:txBody>
      </p:sp>
      <p:sp>
        <p:nvSpPr>
          <p:cNvPr id="3" name="Content Placeholder 2">
            <a:extLst>
              <a:ext uri="{FF2B5EF4-FFF2-40B4-BE49-F238E27FC236}">
                <a16:creationId xmlns:a16="http://schemas.microsoft.com/office/drawing/2014/main" id="{B9754705-E322-AA8B-CBA7-74D5254A9BAC}"/>
              </a:ext>
            </a:extLst>
          </p:cNvPr>
          <p:cNvSpPr>
            <a:spLocks noGrp="1"/>
          </p:cNvSpPr>
          <p:nvPr>
            <p:ph idx="1"/>
          </p:nvPr>
        </p:nvSpPr>
        <p:spPr/>
        <p:txBody>
          <a:bodyPr/>
          <a:lstStyle/>
          <a:p>
            <a:r>
              <a:rPr lang="en-US" sz="3200" b="1" dirty="0"/>
              <a:t>Data</a:t>
            </a:r>
            <a:r>
              <a:rPr lang="en-US" sz="3200" dirty="0"/>
              <a:t>: a set of records (AKA </a:t>
            </a:r>
            <a:r>
              <a:rPr lang="en-US" sz="3200" i="1" dirty="0"/>
              <a:t>examples</a:t>
            </a:r>
            <a:r>
              <a:rPr lang="en-US" sz="3200" dirty="0"/>
              <a:t>, </a:t>
            </a:r>
            <a:r>
              <a:rPr lang="en-US" sz="3200" i="1" dirty="0"/>
              <a:t>instances</a:t>
            </a:r>
            <a:r>
              <a:rPr lang="en-US" sz="3200" dirty="0"/>
              <a:t>, or </a:t>
            </a:r>
            <a:r>
              <a:rPr lang="en-US" sz="3200" i="1" dirty="0"/>
              <a:t>cases</a:t>
            </a:r>
            <a:r>
              <a:rPr lang="en-US" sz="3200" dirty="0"/>
              <a:t>) described by</a:t>
            </a:r>
          </a:p>
          <a:p>
            <a:pPr lvl="1"/>
            <a:r>
              <a:rPr lang="en-US" b="1" i="1" dirty="0"/>
              <a:t>k </a:t>
            </a:r>
            <a:r>
              <a:rPr lang="en-US" b="1" dirty="0"/>
              <a:t>attributes</a:t>
            </a:r>
            <a:r>
              <a:rPr lang="en-US" dirty="0"/>
              <a:t>: </a:t>
            </a:r>
            <a:r>
              <a:rPr lang="en-GB" altLang="en-US" i="1" dirty="0"/>
              <a:t>A</a:t>
            </a:r>
            <a:r>
              <a:rPr lang="en-GB" altLang="en-US" baseline="-25000" dirty="0"/>
              <a:t>1</a:t>
            </a:r>
            <a:r>
              <a:rPr lang="en-GB" altLang="en-US" dirty="0"/>
              <a:t>, </a:t>
            </a:r>
            <a:r>
              <a:rPr lang="en-GB" altLang="en-US" i="1" dirty="0"/>
              <a:t>A</a:t>
            </a:r>
            <a:r>
              <a:rPr lang="en-GB" altLang="en-US" baseline="-25000" dirty="0"/>
              <a:t>2</a:t>
            </a:r>
            <a:r>
              <a:rPr lang="en-GB" altLang="en-US" dirty="0"/>
              <a:t>, … </a:t>
            </a:r>
            <a:r>
              <a:rPr lang="en-GB" altLang="en-US" i="1" dirty="0"/>
              <a:t>A</a:t>
            </a:r>
            <a:r>
              <a:rPr lang="en-GB" altLang="en-US" i="1" baseline="-25000" dirty="0"/>
              <a:t>k</a:t>
            </a:r>
          </a:p>
          <a:p>
            <a:pPr lvl="1"/>
            <a:r>
              <a:rPr lang="en-GB" altLang="en-US" sz="2800" b="1" dirty="0"/>
              <a:t>A class</a:t>
            </a:r>
            <a:r>
              <a:rPr lang="en-GB" altLang="en-US" sz="2800" dirty="0"/>
              <a:t>: each example is labelled with a pre-defined class</a:t>
            </a:r>
          </a:p>
          <a:p>
            <a:r>
              <a:rPr lang="en-GB" altLang="en-US" sz="3200" b="1" dirty="0"/>
              <a:t>Goal</a:t>
            </a:r>
            <a:r>
              <a:rPr lang="en-GB" altLang="en-US" sz="3200" dirty="0"/>
              <a:t>: to learn a classification model from the data that can be used to predict the classes of new (future/test) cases/instances</a:t>
            </a:r>
          </a:p>
          <a:p>
            <a:pPr lvl="1"/>
            <a:endParaRPr lang="en-GB" altLang="en-US" i="1" baseline="-25000" dirty="0"/>
          </a:p>
        </p:txBody>
      </p:sp>
    </p:spTree>
    <p:extLst>
      <p:ext uri="{BB962C8B-B14F-4D97-AF65-F5344CB8AC3E}">
        <p14:creationId xmlns:p14="http://schemas.microsoft.com/office/powerpoint/2010/main" val="1366111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0919-B539-2270-301A-EE21B5617480}"/>
              </a:ext>
            </a:extLst>
          </p:cNvPr>
          <p:cNvSpPr>
            <a:spLocks noGrp="1"/>
          </p:cNvSpPr>
          <p:nvPr>
            <p:ph type="title"/>
          </p:nvPr>
        </p:nvSpPr>
        <p:spPr/>
        <p:txBody>
          <a:bodyPr/>
          <a:lstStyle/>
          <a:p>
            <a:r>
              <a:rPr lang="en-US" dirty="0"/>
              <a:t>Example: Loan Application</a:t>
            </a:r>
          </a:p>
        </p:txBody>
      </p:sp>
      <p:pic>
        <p:nvPicPr>
          <p:cNvPr id="4" name="Picture 3">
            <a:extLst>
              <a:ext uri="{FF2B5EF4-FFF2-40B4-BE49-F238E27FC236}">
                <a16:creationId xmlns:a16="http://schemas.microsoft.com/office/drawing/2014/main" id="{9BD1EEEB-4766-4B3B-9B24-CD6AA3494417}"/>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14607"/>
            <a:ext cx="7523018" cy="4378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442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91508-3B3B-1227-08F5-3DC58C307277}"/>
              </a:ext>
            </a:extLst>
          </p:cNvPr>
          <p:cNvSpPr>
            <a:spLocks noGrp="1"/>
          </p:cNvSpPr>
          <p:nvPr>
            <p:ph type="title"/>
          </p:nvPr>
        </p:nvSpPr>
        <p:spPr/>
        <p:txBody>
          <a:bodyPr/>
          <a:lstStyle/>
          <a:p>
            <a:r>
              <a:rPr lang="en-US" dirty="0"/>
              <a:t>The Learning Task</a:t>
            </a:r>
          </a:p>
        </p:txBody>
      </p:sp>
      <p:sp>
        <p:nvSpPr>
          <p:cNvPr id="3" name="Content Placeholder 2">
            <a:extLst>
              <a:ext uri="{FF2B5EF4-FFF2-40B4-BE49-F238E27FC236}">
                <a16:creationId xmlns:a16="http://schemas.microsoft.com/office/drawing/2014/main" id="{EE8F572D-DAD5-7176-8066-421FDEFD1B76}"/>
              </a:ext>
            </a:extLst>
          </p:cNvPr>
          <p:cNvSpPr>
            <a:spLocks noGrp="1"/>
          </p:cNvSpPr>
          <p:nvPr>
            <p:ph idx="1"/>
          </p:nvPr>
        </p:nvSpPr>
        <p:spPr/>
        <p:txBody>
          <a:bodyPr/>
          <a:lstStyle/>
          <a:p>
            <a:r>
              <a:rPr lang="en-US" dirty="0"/>
              <a:t>Learn a classification model from the data</a:t>
            </a:r>
          </a:p>
          <a:p>
            <a:r>
              <a:rPr lang="en-US" dirty="0"/>
              <a:t>Use the model to classify future loan applications</a:t>
            </a:r>
          </a:p>
          <a:p>
            <a:pPr lvl="1"/>
            <a:r>
              <a:rPr lang="en-US" dirty="0"/>
              <a:t>Yes (approved)</a:t>
            </a:r>
          </a:p>
          <a:p>
            <a:pPr lvl="1"/>
            <a:r>
              <a:rPr lang="en-US" dirty="0"/>
              <a:t>No (not approved)</a:t>
            </a:r>
          </a:p>
          <a:p>
            <a:r>
              <a:rPr lang="en-US" dirty="0"/>
              <a:t>What is the class for the following case/instance?</a:t>
            </a:r>
          </a:p>
        </p:txBody>
      </p:sp>
      <p:pic>
        <p:nvPicPr>
          <p:cNvPr id="4" name="Picture 3">
            <a:extLst>
              <a:ext uri="{FF2B5EF4-FFF2-40B4-BE49-F238E27FC236}">
                <a16:creationId xmlns:a16="http://schemas.microsoft.com/office/drawing/2014/main" id="{90817D39-C63F-4662-96A7-F20009ACFA2F}"/>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009" y="5219219"/>
            <a:ext cx="820896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85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72ED-262B-C640-404B-82D6EDB83033}"/>
              </a:ext>
            </a:extLst>
          </p:cNvPr>
          <p:cNvSpPr>
            <a:spLocks noGrp="1"/>
          </p:cNvSpPr>
          <p:nvPr>
            <p:ph type="title"/>
          </p:nvPr>
        </p:nvSpPr>
        <p:spPr/>
        <p:txBody>
          <a:bodyPr/>
          <a:lstStyle/>
          <a:p>
            <a:r>
              <a:rPr lang="en-US" dirty="0"/>
              <a:t>Classification – A Two-Step Process</a:t>
            </a:r>
          </a:p>
        </p:txBody>
      </p:sp>
      <p:sp>
        <p:nvSpPr>
          <p:cNvPr id="3" name="Content Placeholder 2">
            <a:extLst>
              <a:ext uri="{FF2B5EF4-FFF2-40B4-BE49-F238E27FC236}">
                <a16:creationId xmlns:a16="http://schemas.microsoft.com/office/drawing/2014/main" id="{26F582A0-D1F2-EB42-052A-F4BED97CEDF0}"/>
              </a:ext>
            </a:extLst>
          </p:cNvPr>
          <p:cNvSpPr>
            <a:spLocks noGrp="1"/>
          </p:cNvSpPr>
          <p:nvPr>
            <p:ph idx="1"/>
          </p:nvPr>
        </p:nvSpPr>
        <p:spPr/>
        <p:txBody>
          <a:bodyPr/>
          <a:lstStyle/>
          <a:p>
            <a:r>
              <a:rPr lang="en-US" b="1" dirty="0"/>
              <a:t>Step 1: Model Construction</a:t>
            </a:r>
            <a:r>
              <a:rPr lang="en-US" dirty="0"/>
              <a:t> involves describing a set of predetermined classes</a:t>
            </a:r>
          </a:p>
          <a:p>
            <a:pPr lvl="1"/>
            <a:r>
              <a:rPr lang="en-US" dirty="0"/>
              <a:t>Each record/sample is assumed to belong to </a:t>
            </a:r>
            <a:r>
              <a:rPr lang="en-US" b="1" dirty="0"/>
              <a:t>one predefined class</a:t>
            </a:r>
          </a:p>
          <a:p>
            <a:pPr lvl="1"/>
            <a:r>
              <a:rPr lang="en-US" dirty="0"/>
              <a:t>The set of records used for model construction is the </a:t>
            </a:r>
            <a:r>
              <a:rPr lang="en-US" b="1" dirty="0"/>
              <a:t>training set</a:t>
            </a:r>
          </a:p>
          <a:p>
            <a:pPr lvl="1"/>
            <a:r>
              <a:rPr lang="en-US" dirty="0"/>
              <a:t>The model is represented as classification rules, decision trees, or mathematical formulae</a:t>
            </a:r>
          </a:p>
        </p:txBody>
      </p:sp>
    </p:spTree>
    <p:extLst>
      <p:ext uri="{BB962C8B-B14F-4D97-AF65-F5344CB8AC3E}">
        <p14:creationId xmlns:p14="http://schemas.microsoft.com/office/powerpoint/2010/main" val="8254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A29A7-4500-7CC3-7D1E-CA9BAC1AD741}"/>
              </a:ext>
            </a:extLst>
          </p:cNvPr>
          <p:cNvSpPr>
            <a:spLocks noGrp="1"/>
          </p:cNvSpPr>
          <p:nvPr>
            <p:ph type="title"/>
          </p:nvPr>
        </p:nvSpPr>
        <p:spPr/>
        <p:txBody>
          <a:bodyPr/>
          <a:lstStyle/>
          <a:p>
            <a:r>
              <a:rPr lang="en-US" dirty="0"/>
              <a:t>Classification – A Two-Step Process</a:t>
            </a:r>
          </a:p>
        </p:txBody>
      </p:sp>
      <p:sp>
        <p:nvSpPr>
          <p:cNvPr id="3" name="Content Placeholder 2">
            <a:extLst>
              <a:ext uri="{FF2B5EF4-FFF2-40B4-BE49-F238E27FC236}">
                <a16:creationId xmlns:a16="http://schemas.microsoft.com/office/drawing/2014/main" id="{3C28021A-4734-5D19-FA43-738B4B7F576C}"/>
              </a:ext>
            </a:extLst>
          </p:cNvPr>
          <p:cNvSpPr>
            <a:spLocks noGrp="1"/>
          </p:cNvSpPr>
          <p:nvPr>
            <p:ph idx="1"/>
          </p:nvPr>
        </p:nvSpPr>
        <p:spPr/>
        <p:txBody>
          <a:bodyPr>
            <a:normAutofit fontScale="92500" lnSpcReduction="10000"/>
          </a:bodyPr>
          <a:lstStyle/>
          <a:p>
            <a:r>
              <a:rPr lang="en-US" sz="3200" b="1" dirty="0"/>
              <a:t>Step 2: Model Usage</a:t>
            </a:r>
            <a:r>
              <a:rPr lang="en-US" sz="3200" dirty="0"/>
              <a:t> is for classifying future or unknown objects</a:t>
            </a:r>
          </a:p>
          <a:p>
            <a:pPr lvl="1"/>
            <a:r>
              <a:rPr lang="en-US" sz="2800" dirty="0"/>
              <a:t>Estimate the accuracy of the model</a:t>
            </a:r>
          </a:p>
          <a:p>
            <a:pPr lvl="2"/>
            <a:r>
              <a:rPr lang="en-US" sz="2400" dirty="0"/>
              <a:t>The classified result is compared with the known label of the test set</a:t>
            </a:r>
          </a:p>
          <a:p>
            <a:pPr lvl="2"/>
            <a:r>
              <a:rPr lang="en-US" sz="2400" dirty="0"/>
              <a:t>Accuracy rate is the percentage of test set samples that are correctly classified by the model</a:t>
            </a:r>
          </a:p>
          <a:p>
            <a:pPr lvl="2"/>
            <a:r>
              <a:rPr lang="en-US" sz="2400" dirty="0"/>
              <a:t>Test set MUST be independent of the training set, otherwise </a:t>
            </a:r>
            <a:r>
              <a:rPr lang="en-US" sz="2400" b="1" dirty="0"/>
              <a:t>over-fitting</a:t>
            </a:r>
            <a:r>
              <a:rPr lang="en-US" sz="2400" dirty="0"/>
              <a:t> will occur</a:t>
            </a:r>
          </a:p>
          <a:p>
            <a:pPr lvl="2"/>
            <a:r>
              <a:rPr lang="en-US" sz="2400" dirty="0"/>
              <a:t>If the accuracy is acceptable, use the model to classify future data whose class labels are </a:t>
            </a:r>
            <a:r>
              <a:rPr lang="en-US" sz="2400" b="1" dirty="0"/>
              <a:t>not known</a:t>
            </a:r>
          </a:p>
        </p:txBody>
      </p:sp>
    </p:spTree>
    <p:extLst>
      <p:ext uri="{BB962C8B-B14F-4D97-AF65-F5344CB8AC3E}">
        <p14:creationId xmlns:p14="http://schemas.microsoft.com/office/powerpoint/2010/main" val="2375192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A62E-D5BE-6D0E-6B4C-98592A7E8011}"/>
              </a:ext>
            </a:extLst>
          </p:cNvPr>
          <p:cNvSpPr>
            <a:spLocks noGrp="1"/>
          </p:cNvSpPr>
          <p:nvPr>
            <p:ph type="title"/>
          </p:nvPr>
        </p:nvSpPr>
        <p:spPr/>
        <p:txBody>
          <a:bodyPr/>
          <a:lstStyle/>
          <a:p>
            <a:r>
              <a:rPr lang="en-US" dirty="0"/>
              <a:t>Process (1): Model Construction</a:t>
            </a:r>
          </a:p>
        </p:txBody>
      </p:sp>
      <p:pic>
        <p:nvPicPr>
          <p:cNvPr id="5" name="Picture 4">
            <a:extLst>
              <a:ext uri="{FF2B5EF4-FFF2-40B4-BE49-F238E27FC236}">
                <a16:creationId xmlns:a16="http://schemas.microsoft.com/office/drawing/2014/main" id="{0E96491A-4526-D700-6CA8-E1C4E3E12001}"/>
              </a:ext>
            </a:extLst>
          </p:cNvPr>
          <p:cNvPicPr>
            <a:picLocks noChangeAspect="1"/>
          </p:cNvPicPr>
          <p:nvPr/>
        </p:nvPicPr>
        <p:blipFill>
          <a:blip r:embed="rId2"/>
          <a:stretch>
            <a:fillRect/>
          </a:stretch>
        </p:blipFill>
        <p:spPr>
          <a:xfrm>
            <a:off x="2623126" y="2090938"/>
            <a:ext cx="7612063" cy="4572494"/>
          </a:xfrm>
          <a:prstGeom prst="rect">
            <a:avLst/>
          </a:prstGeom>
        </p:spPr>
      </p:pic>
    </p:spTree>
    <p:extLst>
      <p:ext uri="{BB962C8B-B14F-4D97-AF65-F5344CB8AC3E}">
        <p14:creationId xmlns:p14="http://schemas.microsoft.com/office/powerpoint/2010/main" val="2537778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C727F-BB2F-E024-09F6-2F8A2D96134D}"/>
              </a:ext>
            </a:extLst>
          </p:cNvPr>
          <p:cNvSpPr>
            <a:spLocks noGrp="1"/>
          </p:cNvSpPr>
          <p:nvPr>
            <p:ph type="title"/>
          </p:nvPr>
        </p:nvSpPr>
        <p:spPr/>
        <p:txBody>
          <a:bodyPr/>
          <a:lstStyle/>
          <a:p>
            <a:r>
              <a:rPr lang="en-US" dirty="0"/>
              <a:t>Process (2): Using the Model in Prediction</a:t>
            </a:r>
          </a:p>
        </p:txBody>
      </p:sp>
      <p:pic>
        <p:nvPicPr>
          <p:cNvPr id="5" name="Picture 4">
            <a:extLst>
              <a:ext uri="{FF2B5EF4-FFF2-40B4-BE49-F238E27FC236}">
                <a16:creationId xmlns:a16="http://schemas.microsoft.com/office/drawing/2014/main" id="{CE1C3DE3-0A96-1BAC-BAD4-80A47D856D18}"/>
              </a:ext>
            </a:extLst>
          </p:cNvPr>
          <p:cNvPicPr>
            <a:picLocks noChangeAspect="1"/>
          </p:cNvPicPr>
          <p:nvPr/>
        </p:nvPicPr>
        <p:blipFill>
          <a:blip r:embed="rId2"/>
          <a:stretch>
            <a:fillRect/>
          </a:stretch>
        </p:blipFill>
        <p:spPr>
          <a:xfrm>
            <a:off x="2336800" y="1913696"/>
            <a:ext cx="7898390" cy="4635419"/>
          </a:xfrm>
          <a:prstGeom prst="rect">
            <a:avLst/>
          </a:prstGeom>
        </p:spPr>
      </p:pic>
    </p:spTree>
    <p:extLst>
      <p:ext uri="{BB962C8B-B14F-4D97-AF65-F5344CB8AC3E}">
        <p14:creationId xmlns:p14="http://schemas.microsoft.com/office/powerpoint/2010/main" val="351925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9B397-A6AC-53E3-7664-FF1225F7A0DF}"/>
              </a:ext>
            </a:extLst>
          </p:cNvPr>
          <p:cNvSpPr>
            <a:spLocks noGrp="1"/>
          </p:cNvSpPr>
          <p:nvPr>
            <p:ph type="title"/>
          </p:nvPr>
        </p:nvSpPr>
        <p:spPr/>
        <p:txBody>
          <a:bodyPr/>
          <a:lstStyle/>
          <a:p>
            <a:r>
              <a:rPr lang="en-US" dirty="0"/>
              <a:t>Decision Trees</a:t>
            </a:r>
          </a:p>
        </p:txBody>
      </p:sp>
      <p:sp>
        <p:nvSpPr>
          <p:cNvPr id="3" name="Text Placeholder 2">
            <a:extLst>
              <a:ext uri="{FF2B5EF4-FFF2-40B4-BE49-F238E27FC236}">
                <a16:creationId xmlns:a16="http://schemas.microsoft.com/office/drawing/2014/main" id="{7479F640-348D-98B9-07C7-AAFCCFA0DF5E}"/>
              </a:ext>
            </a:extLst>
          </p:cNvPr>
          <p:cNvSpPr>
            <a:spLocks noGrp="1"/>
          </p:cNvSpPr>
          <p:nvPr>
            <p:ph type="body" idx="1"/>
          </p:nvPr>
        </p:nvSpPr>
        <p:spPr/>
        <p:txBody>
          <a:bodyPr/>
          <a:lstStyle/>
          <a:p>
            <a:r>
              <a:rPr lang="en-US" dirty="0"/>
              <a:t>Decisions don’t just grow on TREES…wait, do they??</a:t>
            </a:r>
          </a:p>
        </p:txBody>
      </p:sp>
    </p:spTree>
    <p:extLst>
      <p:ext uri="{BB962C8B-B14F-4D97-AF65-F5344CB8AC3E}">
        <p14:creationId xmlns:p14="http://schemas.microsoft.com/office/powerpoint/2010/main" val="3013186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8CBD-081B-1726-2052-D819C2674D13}"/>
              </a:ext>
            </a:extLst>
          </p:cNvPr>
          <p:cNvSpPr>
            <a:spLocks noGrp="1"/>
          </p:cNvSpPr>
          <p:nvPr>
            <p:ph type="title"/>
          </p:nvPr>
        </p:nvSpPr>
        <p:spPr/>
        <p:txBody>
          <a:bodyPr>
            <a:normAutofit fontScale="90000"/>
          </a:bodyPr>
          <a:lstStyle/>
          <a:p>
            <a:r>
              <a:rPr lang="en-US" sz="4000" dirty="0"/>
              <a:t>Decision Tree Induction: </a:t>
            </a:r>
            <a:r>
              <a:rPr lang="en-US" sz="4000" dirty="0" err="1"/>
              <a:t>buys_computer</a:t>
            </a:r>
            <a:r>
              <a:rPr lang="en-US" sz="4000" dirty="0"/>
              <a:t> Dataset</a:t>
            </a:r>
          </a:p>
        </p:txBody>
      </p:sp>
      <p:sp>
        <p:nvSpPr>
          <p:cNvPr id="3" name="Content Placeholder 2">
            <a:extLst>
              <a:ext uri="{FF2B5EF4-FFF2-40B4-BE49-F238E27FC236}">
                <a16:creationId xmlns:a16="http://schemas.microsoft.com/office/drawing/2014/main" id="{26216284-42E0-96D4-1DE2-7C1C215785F2}"/>
              </a:ext>
            </a:extLst>
          </p:cNvPr>
          <p:cNvSpPr>
            <a:spLocks noGrp="1"/>
          </p:cNvSpPr>
          <p:nvPr>
            <p:ph idx="1"/>
          </p:nvPr>
        </p:nvSpPr>
        <p:spPr>
          <a:xfrm>
            <a:off x="581193" y="702156"/>
            <a:ext cx="11029615" cy="3678303"/>
          </a:xfrm>
        </p:spPr>
        <p:txBody>
          <a:bodyPr>
            <a:normAutofit/>
          </a:bodyPr>
          <a:lstStyle/>
          <a:p>
            <a:r>
              <a:rPr lang="en-US" sz="2000" dirty="0"/>
              <a:t>We want to predict whether the person will buy a computer based on these attributes – we need to pinpoint the most determining </a:t>
            </a:r>
            <a:r>
              <a:rPr lang="en-US" sz="2000" dirty="0">
                <a:solidFill>
                  <a:schemeClr val="accent1">
                    <a:lumMod val="75000"/>
                  </a:schemeClr>
                </a:solidFill>
              </a:rPr>
              <a:t>attributes</a:t>
            </a:r>
            <a:r>
              <a:rPr lang="en-US" sz="2000" dirty="0"/>
              <a:t> for </a:t>
            </a:r>
            <a:r>
              <a:rPr lang="en-US" sz="2000" dirty="0">
                <a:solidFill>
                  <a:srgbClr val="FF0000"/>
                </a:solidFill>
              </a:rPr>
              <a:t>buying a computer</a:t>
            </a:r>
          </a:p>
        </p:txBody>
      </p:sp>
      <p:graphicFrame>
        <p:nvGraphicFramePr>
          <p:cNvPr id="6" name="Object 1024">
            <a:extLst>
              <a:ext uri="{FF2B5EF4-FFF2-40B4-BE49-F238E27FC236}">
                <a16:creationId xmlns:a16="http://schemas.microsoft.com/office/drawing/2014/main" id="{A7288CA7-AAF8-3CDC-2191-1C5DA0BC48EE}"/>
              </a:ext>
            </a:extLst>
          </p:cNvPr>
          <p:cNvGraphicFramePr>
            <a:graphicFrameLocks/>
          </p:cNvGraphicFramePr>
          <p:nvPr>
            <p:extLst>
              <p:ext uri="{D42A27DB-BD31-4B8C-83A1-F6EECF244321}">
                <p14:modId xmlns:p14="http://schemas.microsoft.com/office/powerpoint/2010/main" val="937335482"/>
              </p:ext>
            </p:extLst>
          </p:nvPr>
        </p:nvGraphicFramePr>
        <p:xfrm>
          <a:off x="4120356" y="3181943"/>
          <a:ext cx="3951287" cy="3429000"/>
        </p:xfrm>
        <a:graphic>
          <a:graphicData uri="http://schemas.openxmlformats.org/presentationml/2006/ole">
            <mc:AlternateContent xmlns:mc="http://schemas.openxmlformats.org/markup-compatibility/2006">
              <mc:Choice xmlns:v="urn:schemas-microsoft-com:vml" Requires="v">
                <p:oleObj name="Worksheet" r:id="rId2" imgW="5772150" imgH="4457700" progId="Excel.Sheet.8">
                  <p:embed/>
                </p:oleObj>
              </mc:Choice>
              <mc:Fallback>
                <p:oleObj name="Worksheet" r:id="rId2" imgW="5772150" imgH="4457700" progId="Excel.Sheet.8">
                  <p:embed/>
                  <p:pic>
                    <p:nvPicPr>
                      <p:cNvPr id="6" name="Object 1024">
                        <a:extLst>
                          <a:ext uri="{FF2B5EF4-FFF2-40B4-BE49-F238E27FC236}">
                            <a16:creationId xmlns:a16="http://schemas.microsoft.com/office/drawing/2014/main" id="{A7288CA7-AAF8-3CDC-2191-1C5DA0BC48E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0356" y="3181943"/>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9109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4593-DE7B-2B05-9279-C87CB94C6BD9}"/>
              </a:ext>
            </a:extLst>
          </p:cNvPr>
          <p:cNvSpPr>
            <a:spLocks noGrp="1"/>
          </p:cNvSpPr>
          <p:nvPr>
            <p:ph type="title"/>
          </p:nvPr>
        </p:nvSpPr>
        <p:spPr/>
        <p:txBody>
          <a:bodyPr/>
          <a:lstStyle/>
          <a:p>
            <a:r>
              <a:rPr lang="en-US" dirty="0"/>
              <a:t>Decision Tree Induction: An Example</a:t>
            </a:r>
          </a:p>
        </p:txBody>
      </p:sp>
      <p:sp>
        <p:nvSpPr>
          <p:cNvPr id="3" name="Content Placeholder 2">
            <a:extLst>
              <a:ext uri="{FF2B5EF4-FFF2-40B4-BE49-F238E27FC236}">
                <a16:creationId xmlns:a16="http://schemas.microsoft.com/office/drawing/2014/main" id="{EADB079A-31C8-BD35-1FC3-38E002B5A818}"/>
              </a:ext>
            </a:extLst>
          </p:cNvPr>
          <p:cNvSpPr>
            <a:spLocks noGrp="1"/>
          </p:cNvSpPr>
          <p:nvPr>
            <p:ph idx="1"/>
          </p:nvPr>
        </p:nvSpPr>
        <p:spPr>
          <a:xfrm>
            <a:off x="581192" y="2191785"/>
            <a:ext cx="11029615" cy="3678303"/>
          </a:xfrm>
        </p:spPr>
        <p:txBody>
          <a:bodyPr/>
          <a:lstStyle/>
          <a:p>
            <a:r>
              <a:rPr lang="en-US" dirty="0"/>
              <a:t>Training data set: </a:t>
            </a:r>
            <a:r>
              <a:rPr lang="en-US" i="1" dirty="0"/>
              <a:t>buys_computer</a:t>
            </a:r>
          </a:p>
          <a:p>
            <a:r>
              <a:rPr lang="en-US" dirty="0"/>
              <a:t>Resulting decision tree:</a:t>
            </a:r>
          </a:p>
          <a:p>
            <a:endParaRPr lang="en-US" dirty="0"/>
          </a:p>
        </p:txBody>
      </p:sp>
      <p:pic>
        <p:nvPicPr>
          <p:cNvPr id="30" name="Picture 29">
            <a:extLst>
              <a:ext uri="{FF2B5EF4-FFF2-40B4-BE49-F238E27FC236}">
                <a16:creationId xmlns:a16="http://schemas.microsoft.com/office/drawing/2014/main" id="{84AB00CF-CC11-FE79-47DB-44AD5A1D9F57}"/>
              </a:ext>
            </a:extLst>
          </p:cNvPr>
          <p:cNvPicPr>
            <a:picLocks noChangeAspect="1"/>
          </p:cNvPicPr>
          <p:nvPr/>
        </p:nvPicPr>
        <p:blipFill>
          <a:blip r:embed="rId2"/>
          <a:stretch>
            <a:fillRect/>
          </a:stretch>
        </p:blipFill>
        <p:spPr>
          <a:xfrm>
            <a:off x="388574" y="2857865"/>
            <a:ext cx="6049219" cy="3781953"/>
          </a:xfrm>
          <a:prstGeom prst="rect">
            <a:avLst/>
          </a:prstGeom>
        </p:spPr>
      </p:pic>
      <p:graphicFrame>
        <p:nvGraphicFramePr>
          <p:cNvPr id="31" name="Object 1024">
            <a:extLst>
              <a:ext uri="{FF2B5EF4-FFF2-40B4-BE49-F238E27FC236}">
                <a16:creationId xmlns:a16="http://schemas.microsoft.com/office/drawing/2014/main" id="{C90E9F28-BEFB-C9D1-AF41-910E1CE79ABA}"/>
              </a:ext>
            </a:extLst>
          </p:cNvPr>
          <p:cNvGraphicFramePr>
            <a:graphicFrameLocks/>
          </p:cNvGraphicFramePr>
          <p:nvPr>
            <p:extLst>
              <p:ext uri="{D42A27DB-BD31-4B8C-83A1-F6EECF244321}">
                <p14:modId xmlns:p14="http://schemas.microsoft.com/office/powerpoint/2010/main" val="1021799230"/>
              </p:ext>
            </p:extLst>
          </p:nvPr>
        </p:nvGraphicFramePr>
        <p:xfrm>
          <a:off x="7402513" y="2286794"/>
          <a:ext cx="3951287" cy="3429000"/>
        </p:xfrm>
        <a:graphic>
          <a:graphicData uri="http://schemas.openxmlformats.org/presentationml/2006/ole">
            <mc:AlternateContent xmlns:mc="http://schemas.openxmlformats.org/markup-compatibility/2006">
              <mc:Choice xmlns:v="urn:schemas-microsoft-com:vml" Requires="v">
                <p:oleObj name="Worksheet" r:id="rId3" imgW="5772150" imgH="4457700" progId="Excel.Sheet.8">
                  <p:embed/>
                </p:oleObj>
              </mc:Choice>
              <mc:Fallback>
                <p:oleObj name="Worksheet" r:id="rId3" imgW="5772150" imgH="4457700" progId="Excel.Sheet.8">
                  <p:embed/>
                  <p:pic>
                    <p:nvPicPr>
                      <p:cNvPr id="31" name="Object 1024">
                        <a:extLst>
                          <a:ext uri="{FF2B5EF4-FFF2-40B4-BE49-F238E27FC236}">
                            <a16:creationId xmlns:a16="http://schemas.microsoft.com/office/drawing/2014/main" id="{C90E9F28-BEFB-C9D1-AF41-910E1CE79AB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513" y="2286794"/>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5511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EB886-53C2-8E7F-04C8-A74370E63D41}"/>
              </a:ext>
            </a:extLst>
          </p:cNvPr>
          <p:cNvSpPr>
            <a:spLocks noGrp="1"/>
          </p:cNvSpPr>
          <p:nvPr>
            <p:ph type="title"/>
          </p:nvPr>
        </p:nvSpPr>
        <p:spPr/>
        <p:txBody>
          <a:bodyPr/>
          <a:lstStyle/>
          <a:p>
            <a:r>
              <a:rPr lang="en-US" dirty="0"/>
              <a:t>Decision Tree Construction Algorithm</a:t>
            </a:r>
          </a:p>
        </p:txBody>
      </p:sp>
      <p:sp>
        <p:nvSpPr>
          <p:cNvPr id="3" name="Content Placeholder 2">
            <a:extLst>
              <a:ext uri="{FF2B5EF4-FFF2-40B4-BE49-F238E27FC236}">
                <a16:creationId xmlns:a16="http://schemas.microsoft.com/office/drawing/2014/main" id="{EAB9CB5C-01FD-C30E-6A09-9A5D3420E6F7}"/>
              </a:ext>
            </a:extLst>
          </p:cNvPr>
          <p:cNvSpPr>
            <a:spLocks noGrp="1"/>
          </p:cNvSpPr>
          <p:nvPr>
            <p:ph idx="1"/>
          </p:nvPr>
        </p:nvSpPr>
        <p:spPr/>
        <p:txBody>
          <a:bodyPr>
            <a:normAutofit/>
          </a:bodyPr>
          <a:lstStyle/>
          <a:p>
            <a:pPr marL="514350" indent="-514350">
              <a:buFont typeface="+mj-lt"/>
              <a:buAutoNum type="arabicPeriod"/>
            </a:pPr>
            <a:r>
              <a:rPr lang="en-US" dirty="0"/>
              <a:t>Attributes are </a:t>
            </a:r>
            <a:r>
              <a:rPr lang="en-US" b="1" dirty="0"/>
              <a:t>categorical</a:t>
            </a:r>
            <a:r>
              <a:rPr lang="en-US" dirty="0"/>
              <a:t> (if continuous, they are discretized e.g., age: 0-17, 18-34, etc.)</a:t>
            </a:r>
          </a:p>
          <a:p>
            <a:pPr marL="514350" indent="-514350">
              <a:buFont typeface="+mj-lt"/>
              <a:buAutoNum type="arabicPeriod"/>
            </a:pPr>
            <a:r>
              <a:rPr lang="en-US" dirty="0"/>
              <a:t>Start at the </a:t>
            </a:r>
            <a:r>
              <a:rPr lang="en-US" b="1" dirty="0"/>
              <a:t>root</a:t>
            </a:r>
            <a:r>
              <a:rPr lang="en-US" dirty="0"/>
              <a:t> and work down – the attribute that goes at the top (root) is the one that </a:t>
            </a:r>
            <a:r>
              <a:rPr lang="en-US" b="1" dirty="0"/>
              <a:t>splits the data </a:t>
            </a:r>
            <a:r>
              <a:rPr lang="en-US" dirty="0"/>
              <a:t>with the </a:t>
            </a:r>
            <a:r>
              <a:rPr lang="en-US" b="1" dirty="0"/>
              <a:t>highest</a:t>
            </a:r>
            <a:r>
              <a:rPr lang="en-US" dirty="0"/>
              <a:t> prediction accuracy</a:t>
            </a:r>
          </a:p>
          <a:p>
            <a:pPr marL="514350" indent="-514350">
              <a:buFont typeface="+mj-lt"/>
              <a:buAutoNum type="arabicPeriod"/>
            </a:pPr>
            <a:r>
              <a:rPr lang="en-US" dirty="0"/>
              <a:t>For each level in the tree (top to bottom), the attribute(s) are selected based on some </a:t>
            </a:r>
            <a:r>
              <a:rPr lang="en-US" b="1" dirty="0"/>
              <a:t>statistical measure </a:t>
            </a:r>
            <a:r>
              <a:rPr lang="en-US" dirty="0"/>
              <a:t>(e.g., Gini index, information gain, Gain ratio, etc.)</a:t>
            </a:r>
          </a:p>
          <a:p>
            <a:pPr marL="514350" indent="-514350">
              <a:buFont typeface="+mj-lt"/>
              <a:buAutoNum type="arabicPeriod"/>
            </a:pPr>
            <a:r>
              <a:rPr lang="en-US" dirty="0"/>
              <a:t>You stop picking attributes to split the data when:</a:t>
            </a:r>
          </a:p>
          <a:p>
            <a:pPr marL="971550" lvl="1" indent="-514350">
              <a:buFont typeface="+mj-lt"/>
              <a:buAutoNum type="arabicPeriod"/>
            </a:pPr>
            <a:r>
              <a:rPr lang="en-US" dirty="0"/>
              <a:t>All samples for a given node belong to the same class / there are no samples left (i.e., all data under a tree node have the same label)</a:t>
            </a:r>
          </a:p>
          <a:p>
            <a:pPr marL="971550" lvl="1" indent="-514350">
              <a:buFont typeface="+mj-lt"/>
              <a:buAutoNum type="arabicPeriod"/>
            </a:pPr>
            <a:r>
              <a:rPr lang="en-US" dirty="0"/>
              <a:t>There are no remaining attributes for further partitioning</a:t>
            </a:r>
          </a:p>
        </p:txBody>
      </p:sp>
    </p:spTree>
    <p:extLst>
      <p:ext uri="{BB962C8B-B14F-4D97-AF65-F5344CB8AC3E}">
        <p14:creationId xmlns:p14="http://schemas.microsoft.com/office/powerpoint/2010/main" val="1267672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CFF26-39C9-EFE9-421E-98F0605495F4}"/>
              </a:ext>
            </a:extLst>
          </p:cNvPr>
          <p:cNvSpPr>
            <a:spLocks noGrp="1"/>
          </p:cNvSpPr>
          <p:nvPr>
            <p:ph type="title"/>
          </p:nvPr>
        </p:nvSpPr>
        <p:spPr/>
        <p:txBody>
          <a:bodyPr/>
          <a:lstStyle/>
          <a:p>
            <a:r>
              <a:rPr lang="en-US" dirty="0"/>
              <a:t>Attribute Selection Measures</a:t>
            </a:r>
          </a:p>
        </p:txBody>
      </p:sp>
      <p:sp>
        <p:nvSpPr>
          <p:cNvPr id="3" name="Content Placeholder 2">
            <a:extLst>
              <a:ext uri="{FF2B5EF4-FFF2-40B4-BE49-F238E27FC236}">
                <a16:creationId xmlns:a16="http://schemas.microsoft.com/office/drawing/2014/main" id="{C2BA89B2-4DE0-E881-B140-28BA23C91BB2}"/>
              </a:ext>
            </a:extLst>
          </p:cNvPr>
          <p:cNvSpPr>
            <a:spLocks noGrp="1"/>
          </p:cNvSpPr>
          <p:nvPr>
            <p:ph idx="1"/>
          </p:nvPr>
        </p:nvSpPr>
        <p:spPr/>
        <p:txBody>
          <a:bodyPr>
            <a:normAutofit/>
          </a:bodyPr>
          <a:lstStyle/>
          <a:p>
            <a:r>
              <a:rPr lang="en-US" dirty="0"/>
              <a:t>To pick the attribute that will go at the top (root)  of the decision tree, a statistical measure is used to compare the accuracy of using each attribute in the data</a:t>
            </a:r>
          </a:p>
          <a:p>
            <a:r>
              <a:rPr lang="en-US" dirty="0"/>
              <a:t>Once the root of the decision tree has been picked, then the same statistical measure is calculated for the rest of the attributes to decide which one will become the first child, and so on until the tree is complete.</a:t>
            </a:r>
          </a:p>
          <a:p>
            <a:endParaRPr lang="en-US" dirty="0"/>
          </a:p>
          <a:p>
            <a:r>
              <a:rPr lang="en-US" dirty="0"/>
              <a:t>These three statistical measures, in general, return good results</a:t>
            </a:r>
          </a:p>
          <a:p>
            <a:r>
              <a:rPr lang="en-US" b="1" dirty="0"/>
              <a:t>Gini index </a:t>
            </a:r>
            <a:r>
              <a:rPr lang="en-US" dirty="0"/>
              <a:t>(very popular, we will cover this one)</a:t>
            </a:r>
          </a:p>
          <a:p>
            <a:r>
              <a:rPr lang="en-US" dirty="0"/>
              <a:t>Information gain</a:t>
            </a:r>
          </a:p>
          <a:p>
            <a:r>
              <a:rPr lang="en-US" dirty="0"/>
              <a:t>Gain ratio </a:t>
            </a:r>
          </a:p>
          <a:p>
            <a:endParaRPr lang="en-US" dirty="0"/>
          </a:p>
        </p:txBody>
      </p:sp>
    </p:spTree>
    <p:extLst>
      <p:ext uri="{BB962C8B-B14F-4D97-AF65-F5344CB8AC3E}">
        <p14:creationId xmlns:p14="http://schemas.microsoft.com/office/powerpoint/2010/main" val="70053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39F8-F445-8E29-36DE-0DD249B871A3}"/>
              </a:ext>
            </a:extLst>
          </p:cNvPr>
          <p:cNvSpPr>
            <a:spLocks noGrp="1"/>
          </p:cNvSpPr>
          <p:nvPr>
            <p:ph type="title"/>
          </p:nvPr>
        </p:nvSpPr>
        <p:spPr/>
        <p:txBody>
          <a:bodyPr/>
          <a:lstStyle/>
          <a:p>
            <a:r>
              <a:rPr lang="en-US" dirty="0"/>
              <a:t>Gini Impurity</a:t>
            </a:r>
          </a:p>
        </p:txBody>
      </p:sp>
      <p:sp>
        <p:nvSpPr>
          <p:cNvPr id="3" name="Content Placeholder 2">
            <a:extLst>
              <a:ext uri="{FF2B5EF4-FFF2-40B4-BE49-F238E27FC236}">
                <a16:creationId xmlns:a16="http://schemas.microsoft.com/office/drawing/2014/main" id="{F21F3454-1865-835A-224C-22651103DEDD}"/>
              </a:ext>
            </a:extLst>
          </p:cNvPr>
          <p:cNvSpPr>
            <a:spLocks noGrp="1"/>
          </p:cNvSpPr>
          <p:nvPr>
            <p:ph idx="1"/>
          </p:nvPr>
        </p:nvSpPr>
        <p:spPr/>
        <p:txBody>
          <a:bodyPr/>
          <a:lstStyle/>
          <a:p>
            <a:pPr marL="0" indent="0">
              <a:buNone/>
            </a:pPr>
            <a:r>
              <a:rPr lang="en-US" b="1" dirty="0"/>
              <a:t>Gini Impurity </a:t>
            </a:r>
            <a:r>
              <a:rPr lang="en-US" dirty="0"/>
              <a:t>is a measurement of the likelihood of an incorrect classification of a new instance of a random variable, if that new instance were randomly classified according to the distribution of class labels from the data set.</a:t>
            </a:r>
          </a:p>
          <a:p>
            <a:endParaRPr lang="en-US" dirty="0"/>
          </a:p>
          <a:p>
            <a:r>
              <a:rPr lang="en-US" dirty="0"/>
              <a:t>In other words, an attribute with </a:t>
            </a:r>
            <a:r>
              <a:rPr lang="en-US" b="1" dirty="0"/>
              <a:t>lower</a:t>
            </a:r>
            <a:r>
              <a:rPr lang="en-US" dirty="0"/>
              <a:t> Gini Impurity value is </a:t>
            </a:r>
            <a:r>
              <a:rPr lang="en-US" b="1" dirty="0"/>
              <a:t>more accurate</a:t>
            </a:r>
            <a:r>
              <a:rPr lang="en-US" dirty="0"/>
              <a:t> than attributes with higher Gini Impurity values. Thus, </a:t>
            </a:r>
            <a:r>
              <a:rPr lang="en-US" i="1" u="sng" dirty="0"/>
              <a:t>the attribute with the lowest Gini Impurity goes at the top of the tree</a:t>
            </a:r>
            <a:r>
              <a:rPr lang="en-US" dirty="0"/>
              <a:t>.</a:t>
            </a:r>
          </a:p>
          <a:p>
            <a:endParaRPr lang="en-US" dirty="0"/>
          </a:p>
        </p:txBody>
      </p:sp>
    </p:spTree>
    <p:extLst>
      <p:ext uri="{BB962C8B-B14F-4D97-AF65-F5344CB8AC3E}">
        <p14:creationId xmlns:p14="http://schemas.microsoft.com/office/powerpoint/2010/main" val="2792719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BF758-17DA-D557-5D96-98D83A0BEDCE}"/>
              </a:ext>
            </a:extLst>
          </p:cNvPr>
          <p:cNvSpPr>
            <a:spLocks noGrp="1"/>
          </p:cNvSpPr>
          <p:nvPr>
            <p:ph type="title"/>
          </p:nvPr>
        </p:nvSpPr>
        <p:spPr/>
        <p:txBody>
          <a:bodyPr/>
          <a:lstStyle/>
          <a:p>
            <a:r>
              <a:rPr lang="en-US" dirty="0"/>
              <a:t>Attribute Selection Measures Comparison</a:t>
            </a:r>
          </a:p>
        </p:txBody>
      </p:sp>
      <p:sp>
        <p:nvSpPr>
          <p:cNvPr id="3" name="Content Placeholder 2">
            <a:extLst>
              <a:ext uri="{FF2B5EF4-FFF2-40B4-BE49-F238E27FC236}">
                <a16:creationId xmlns:a16="http://schemas.microsoft.com/office/drawing/2014/main" id="{ABD6B1A9-1817-ECDB-187D-AD7009ACA131}"/>
              </a:ext>
            </a:extLst>
          </p:cNvPr>
          <p:cNvSpPr>
            <a:spLocks noGrp="1"/>
          </p:cNvSpPr>
          <p:nvPr>
            <p:ph idx="1"/>
          </p:nvPr>
        </p:nvSpPr>
        <p:spPr/>
        <p:txBody>
          <a:bodyPr>
            <a:normAutofit fontScale="92500" lnSpcReduction="20000"/>
          </a:bodyPr>
          <a:lstStyle/>
          <a:p>
            <a:r>
              <a:rPr lang="en-US" sz="3200" dirty="0"/>
              <a:t>These three statistical measures, in general, return good results</a:t>
            </a:r>
          </a:p>
          <a:p>
            <a:pPr lvl="1"/>
            <a:r>
              <a:rPr lang="en-US" sz="2800" dirty="0"/>
              <a:t>Gini index</a:t>
            </a:r>
          </a:p>
          <a:p>
            <a:pPr lvl="2"/>
            <a:r>
              <a:rPr lang="en-US" sz="2400" dirty="0"/>
              <a:t>Has difficulty when # of classes is large (too many labels)</a:t>
            </a:r>
          </a:p>
          <a:p>
            <a:pPr lvl="2"/>
            <a:r>
              <a:rPr lang="en-US" sz="2400" dirty="0"/>
              <a:t>Tends to favor tests that result in equal-sized partitions and purity in both partitions</a:t>
            </a:r>
          </a:p>
          <a:p>
            <a:pPr lvl="1"/>
            <a:r>
              <a:rPr lang="en-US" sz="2800" dirty="0"/>
              <a:t>Information gain</a:t>
            </a:r>
          </a:p>
          <a:p>
            <a:pPr lvl="1"/>
            <a:r>
              <a:rPr lang="en-US" sz="2800" dirty="0"/>
              <a:t>Gain ratio </a:t>
            </a:r>
          </a:p>
          <a:p>
            <a:pPr lvl="2"/>
            <a:r>
              <a:rPr lang="en-US" sz="2400" dirty="0"/>
              <a:t>Tends to prefer unbalanced splits in which one partition is much smaller than the others</a:t>
            </a:r>
          </a:p>
          <a:p>
            <a:endParaRPr lang="en-US" dirty="0"/>
          </a:p>
        </p:txBody>
      </p:sp>
    </p:spTree>
    <p:extLst>
      <p:ext uri="{BB962C8B-B14F-4D97-AF65-F5344CB8AC3E}">
        <p14:creationId xmlns:p14="http://schemas.microsoft.com/office/powerpoint/2010/main" val="2337267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7448-0A79-C085-3D91-674C41F9BB7D}"/>
              </a:ext>
            </a:extLst>
          </p:cNvPr>
          <p:cNvSpPr>
            <a:spLocks noGrp="1"/>
          </p:cNvSpPr>
          <p:nvPr>
            <p:ph type="title"/>
          </p:nvPr>
        </p:nvSpPr>
        <p:spPr/>
        <p:txBody>
          <a:bodyPr/>
          <a:lstStyle/>
          <a:p>
            <a:r>
              <a:rPr lang="en-US" dirty="0"/>
              <a:t>Naïve Bayes</a:t>
            </a:r>
          </a:p>
        </p:txBody>
      </p:sp>
      <p:sp>
        <p:nvSpPr>
          <p:cNvPr id="3" name="Text Placeholder 2">
            <a:extLst>
              <a:ext uri="{FF2B5EF4-FFF2-40B4-BE49-F238E27FC236}">
                <a16:creationId xmlns:a16="http://schemas.microsoft.com/office/drawing/2014/main" id="{F4869B05-749C-C91B-0EAA-615404488780}"/>
              </a:ext>
            </a:extLst>
          </p:cNvPr>
          <p:cNvSpPr>
            <a:spLocks noGrp="1"/>
          </p:cNvSpPr>
          <p:nvPr>
            <p:ph type="body" idx="1"/>
          </p:nvPr>
        </p:nvSpPr>
        <p:spPr/>
        <p:txBody>
          <a:bodyPr/>
          <a:lstStyle/>
          <a:p>
            <a:r>
              <a:rPr lang="en-US" dirty="0"/>
              <a:t>Naïve fools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267868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74813-42BD-685D-E952-8C7A8244346A}"/>
              </a:ext>
            </a:extLst>
          </p:cNvPr>
          <p:cNvSpPr>
            <a:spLocks noGrp="1"/>
          </p:cNvSpPr>
          <p:nvPr>
            <p:ph type="title"/>
          </p:nvPr>
        </p:nvSpPr>
        <p:spPr/>
        <p:txBody>
          <a:bodyPr/>
          <a:lstStyle/>
          <a:p>
            <a:r>
              <a:rPr lang="en-US" dirty="0"/>
              <a:t>Bayesian Classification: Why?</a:t>
            </a:r>
          </a:p>
        </p:txBody>
      </p:sp>
      <p:sp>
        <p:nvSpPr>
          <p:cNvPr id="3" name="Content Placeholder 2">
            <a:extLst>
              <a:ext uri="{FF2B5EF4-FFF2-40B4-BE49-F238E27FC236}">
                <a16:creationId xmlns:a16="http://schemas.microsoft.com/office/drawing/2014/main" id="{49412D4B-4293-98DB-50A4-4F1A3E016918}"/>
              </a:ext>
            </a:extLst>
          </p:cNvPr>
          <p:cNvSpPr>
            <a:spLocks noGrp="1"/>
          </p:cNvSpPr>
          <p:nvPr>
            <p:ph idx="1"/>
          </p:nvPr>
        </p:nvSpPr>
        <p:spPr/>
        <p:txBody>
          <a:bodyPr/>
          <a:lstStyle/>
          <a:p>
            <a:r>
              <a:rPr lang="en-US" b="1" dirty="0"/>
              <a:t>A statistical classifier</a:t>
            </a:r>
            <a:r>
              <a:rPr lang="en-US" dirty="0"/>
              <a:t>: performs probabilistic prediction, i.e., predicts class membership probabilities</a:t>
            </a:r>
          </a:p>
          <a:p>
            <a:r>
              <a:rPr lang="en-US" b="1" dirty="0"/>
              <a:t>Foundation</a:t>
            </a:r>
            <a:r>
              <a:rPr lang="en-US" dirty="0"/>
              <a:t>: Based on Bayes’ Theorem. </a:t>
            </a:r>
          </a:p>
          <a:p>
            <a:r>
              <a:rPr lang="en-US" b="1" dirty="0"/>
              <a:t>Performance</a:t>
            </a:r>
            <a:r>
              <a:rPr lang="en-US" dirty="0"/>
              <a:t>: A simple Bayesian classifier, </a:t>
            </a:r>
            <a:r>
              <a:rPr lang="en-US" b="1" i="1" dirty="0"/>
              <a:t>naïve Bayesian </a:t>
            </a:r>
            <a:r>
              <a:rPr lang="en-US" dirty="0"/>
              <a:t>classifier, has comparable performance with decision tree and selected neural network classifiers</a:t>
            </a:r>
          </a:p>
          <a:p>
            <a:r>
              <a:rPr lang="en-US" b="1" dirty="0"/>
              <a:t>Incremental</a:t>
            </a:r>
            <a:r>
              <a:rPr lang="en-US" dirty="0"/>
              <a:t>: Prior knowledge (acquired from classifier training) can be combined with newly observed data to achieve higher accuracies.</a:t>
            </a:r>
          </a:p>
          <a:p>
            <a:endParaRPr lang="en-US" dirty="0"/>
          </a:p>
        </p:txBody>
      </p:sp>
    </p:spTree>
    <p:extLst>
      <p:ext uri="{BB962C8B-B14F-4D97-AF65-F5344CB8AC3E}">
        <p14:creationId xmlns:p14="http://schemas.microsoft.com/office/powerpoint/2010/main" val="685923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C3FB-9B72-C51B-D6CB-D46D23623A8B}"/>
              </a:ext>
            </a:extLst>
          </p:cNvPr>
          <p:cNvSpPr>
            <a:spLocks noGrp="1"/>
          </p:cNvSpPr>
          <p:nvPr>
            <p:ph type="title"/>
          </p:nvPr>
        </p:nvSpPr>
        <p:spPr/>
        <p:txBody>
          <a:bodyPr/>
          <a:lstStyle/>
          <a:p>
            <a:r>
              <a:rPr lang="en-US" dirty="0"/>
              <a:t>Naïve Bayesian Classifier</a:t>
            </a:r>
          </a:p>
        </p:txBody>
      </p:sp>
      <p:sp>
        <p:nvSpPr>
          <p:cNvPr id="3" name="Content Placeholder 2">
            <a:extLst>
              <a:ext uri="{FF2B5EF4-FFF2-40B4-BE49-F238E27FC236}">
                <a16:creationId xmlns:a16="http://schemas.microsoft.com/office/drawing/2014/main" id="{7D976F2A-4158-DBCA-1F3D-5404E53F1F11}"/>
              </a:ext>
            </a:extLst>
          </p:cNvPr>
          <p:cNvSpPr>
            <a:spLocks noGrp="1"/>
          </p:cNvSpPr>
          <p:nvPr>
            <p:ph idx="1"/>
          </p:nvPr>
        </p:nvSpPr>
        <p:spPr/>
        <p:txBody>
          <a:bodyPr/>
          <a:lstStyle/>
          <a:p>
            <a:r>
              <a:rPr lang="en-US" dirty="0"/>
              <a:t>The Naïve Bayesian classifier is based on Bayes’ theorem with the independence assumptions between predictors</a:t>
            </a:r>
          </a:p>
          <a:p>
            <a:r>
              <a:rPr lang="en-US" dirty="0"/>
              <a:t>Despite its simplicity, the Naïve Bayesian classifier often performs very well and is widely used in predictive analytics</a:t>
            </a:r>
          </a:p>
          <a:p>
            <a:endParaRPr lang="en-US" dirty="0"/>
          </a:p>
        </p:txBody>
      </p:sp>
      <p:pic>
        <p:nvPicPr>
          <p:cNvPr id="4" name="Picture 2">
            <a:extLst>
              <a:ext uri="{FF2B5EF4-FFF2-40B4-BE49-F238E27FC236}">
                <a16:creationId xmlns:a16="http://schemas.microsoft.com/office/drawing/2014/main" id="{601E08DB-5652-3291-82DC-01B9D0F690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805" y="4480043"/>
            <a:ext cx="3549650" cy="2154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948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92EFE-132A-AE56-0657-3AA38844457F}"/>
              </a:ext>
            </a:extLst>
          </p:cNvPr>
          <p:cNvSpPr>
            <a:spLocks noGrp="1"/>
          </p:cNvSpPr>
          <p:nvPr>
            <p:ph type="title"/>
          </p:nvPr>
        </p:nvSpPr>
        <p:spPr/>
        <p:txBody>
          <a:bodyPr>
            <a:normAutofit fontScale="90000"/>
          </a:bodyPr>
          <a:lstStyle/>
          <a:p>
            <a:r>
              <a:rPr lang="en-US" sz="3600" dirty="0"/>
              <a:t>Example: Naïve Bayesian Classifier – Training Dataset</a:t>
            </a:r>
          </a:p>
        </p:txBody>
      </p:sp>
      <p:sp>
        <p:nvSpPr>
          <p:cNvPr id="3" name="Content Placeholder 2">
            <a:extLst>
              <a:ext uri="{FF2B5EF4-FFF2-40B4-BE49-F238E27FC236}">
                <a16:creationId xmlns:a16="http://schemas.microsoft.com/office/drawing/2014/main" id="{48677BF3-B3E1-12C7-AE00-A1AD82E8FC51}"/>
              </a:ext>
            </a:extLst>
          </p:cNvPr>
          <p:cNvSpPr>
            <a:spLocks noGrp="1"/>
          </p:cNvSpPr>
          <p:nvPr>
            <p:ph idx="1"/>
          </p:nvPr>
        </p:nvSpPr>
        <p:spPr/>
        <p:txBody>
          <a:bodyPr/>
          <a:lstStyle/>
          <a:p>
            <a:r>
              <a:rPr lang="en-US" dirty="0"/>
              <a:t>Class:</a:t>
            </a:r>
          </a:p>
          <a:p>
            <a:pPr lvl="1"/>
            <a:r>
              <a:rPr lang="en-US" dirty="0"/>
              <a:t>C1 </a:t>
            </a:r>
            <a:r>
              <a:rPr lang="en-US" dirty="0">
                <a:sym typeface="Wingdings" panose="05000000000000000000" pitchFamily="2" charset="2"/>
              </a:rPr>
              <a:t> buys_computer = ‘yes’</a:t>
            </a:r>
          </a:p>
          <a:p>
            <a:pPr lvl="1"/>
            <a:r>
              <a:rPr lang="en-US" dirty="0">
                <a:sym typeface="Wingdings" panose="05000000000000000000" pitchFamily="2" charset="2"/>
              </a:rPr>
              <a:t>C2  buys_computer = ‘no’</a:t>
            </a:r>
          </a:p>
        </p:txBody>
      </p:sp>
      <p:graphicFrame>
        <p:nvGraphicFramePr>
          <p:cNvPr id="4" name="Object 1024">
            <a:extLst>
              <a:ext uri="{FF2B5EF4-FFF2-40B4-BE49-F238E27FC236}">
                <a16:creationId xmlns:a16="http://schemas.microsoft.com/office/drawing/2014/main" id="{42757B98-07DC-6B09-E2F9-80D3A260D520}"/>
              </a:ext>
            </a:extLst>
          </p:cNvPr>
          <p:cNvGraphicFramePr>
            <a:graphicFrameLocks/>
          </p:cNvGraphicFramePr>
          <p:nvPr>
            <p:extLst>
              <p:ext uri="{D42A27DB-BD31-4B8C-83A1-F6EECF244321}">
                <p14:modId xmlns:p14="http://schemas.microsoft.com/office/powerpoint/2010/main" val="3768172366"/>
              </p:ext>
            </p:extLst>
          </p:nvPr>
        </p:nvGraphicFramePr>
        <p:xfrm>
          <a:off x="6358717" y="2226409"/>
          <a:ext cx="3951287" cy="3429000"/>
        </p:xfrm>
        <a:graphic>
          <a:graphicData uri="http://schemas.openxmlformats.org/presentationml/2006/ole">
            <mc:AlternateContent xmlns:mc="http://schemas.openxmlformats.org/markup-compatibility/2006">
              <mc:Choice xmlns:v="urn:schemas-microsoft-com:vml" Requires="v">
                <p:oleObj name="Worksheet" r:id="rId2" imgW="5772150" imgH="4457700" progId="Excel.Sheet.8">
                  <p:embed/>
                </p:oleObj>
              </mc:Choice>
              <mc:Fallback>
                <p:oleObj name="Worksheet" r:id="rId2" imgW="5772150" imgH="4457700" progId="Excel.Sheet.8">
                  <p:embed/>
                  <p:pic>
                    <p:nvPicPr>
                      <p:cNvPr id="4" name="Object 1024">
                        <a:extLst>
                          <a:ext uri="{FF2B5EF4-FFF2-40B4-BE49-F238E27FC236}">
                            <a16:creationId xmlns:a16="http://schemas.microsoft.com/office/drawing/2014/main" id="{42757B98-07DC-6B09-E2F9-80D3A260D5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8717" y="2226409"/>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25478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CA8B-8035-8EF6-D43C-530C401A3B39}"/>
              </a:ext>
            </a:extLst>
          </p:cNvPr>
          <p:cNvSpPr>
            <a:spLocks noGrp="1"/>
          </p:cNvSpPr>
          <p:nvPr>
            <p:ph type="title"/>
          </p:nvPr>
        </p:nvSpPr>
        <p:spPr/>
        <p:txBody>
          <a:bodyPr/>
          <a:lstStyle/>
          <a:p>
            <a:r>
              <a:rPr lang="en-US" dirty="0"/>
              <a:t>Predicting with Naïve Bayes</a:t>
            </a:r>
          </a:p>
        </p:txBody>
      </p:sp>
      <p:sp>
        <p:nvSpPr>
          <p:cNvPr id="3" name="Content Placeholder 2">
            <a:extLst>
              <a:ext uri="{FF2B5EF4-FFF2-40B4-BE49-F238E27FC236}">
                <a16:creationId xmlns:a16="http://schemas.microsoft.com/office/drawing/2014/main" id="{DCABEF39-053F-57BC-10DD-9402FC2DD22B}"/>
              </a:ext>
            </a:extLst>
          </p:cNvPr>
          <p:cNvSpPr>
            <a:spLocks noGrp="1"/>
          </p:cNvSpPr>
          <p:nvPr>
            <p:ph sz="half" idx="1"/>
          </p:nvPr>
        </p:nvSpPr>
        <p:spPr/>
        <p:txBody>
          <a:bodyPr>
            <a:normAutofit fontScale="47500" lnSpcReduction="20000"/>
          </a:bodyPr>
          <a:lstStyle/>
          <a:p>
            <a:pPr eaLnBrk="1" hangingPunct="1">
              <a:lnSpc>
                <a:spcPct val="80000"/>
              </a:lnSpc>
            </a:pPr>
            <a:r>
              <a:rPr lang="en-US" altLang="en-US" sz="3600" dirty="0"/>
              <a:t>P(C</a:t>
            </a:r>
            <a:r>
              <a:rPr lang="en-US" altLang="en-US" sz="3600" baseline="-25000" dirty="0"/>
              <a:t>i</a:t>
            </a:r>
            <a:r>
              <a:rPr lang="en-US" altLang="en-US" sz="3600" dirty="0"/>
              <a:t>):    </a:t>
            </a:r>
            <a:r>
              <a:rPr lang="en-US" altLang="en-US" sz="2800" dirty="0"/>
              <a:t>P(buys_computer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9/14 = 0.643</a:t>
            </a:r>
          </a:p>
          <a:p>
            <a:pPr eaLnBrk="1" hangingPunct="1">
              <a:lnSpc>
                <a:spcPct val="80000"/>
              </a:lnSpc>
              <a:buFont typeface="Wingdings" panose="05000000000000000000" pitchFamily="2" charset="2"/>
              <a:buNone/>
            </a:pPr>
            <a:r>
              <a:rPr lang="en-US" altLang="en-US" sz="2800" dirty="0"/>
              <a:t>                    P(buys_computer = </a:t>
            </a:r>
            <a:r>
              <a:rPr lang="ja-JP" altLang="en-US" sz="2800" dirty="0">
                <a:latin typeface="Arial" panose="020B0604020202020204" pitchFamily="34" charset="0"/>
              </a:rPr>
              <a:t>“</a:t>
            </a:r>
            <a:r>
              <a:rPr lang="en-US" altLang="ja-JP" sz="2800" dirty="0"/>
              <a:t>no</a:t>
            </a:r>
            <a:r>
              <a:rPr lang="ja-JP" altLang="en-US" sz="2800" dirty="0">
                <a:latin typeface="Arial" panose="020B0604020202020204" pitchFamily="34" charset="0"/>
              </a:rPr>
              <a:t>”</a:t>
            </a:r>
            <a:r>
              <a:rPr lang="en-US" altLang="ja-JP" sz="2800" dirty="0"/>
              <a:t>) = 5/14= 0.357</a:t>
            </a:r>
          </a:p>
          <a:p>
            <a:pPr eaLnBrk="1" hangingPunct="1">
              <a:lnSpc>
                <a:spcPct val="80000"/>
              </a:lnSpc>
              <a:buFont typeface="Wingdings" panose="05000000000000000000" pitchFamily="2" charset="2"/>
              <a:buNone/>
            </a:pPr>
            <a:endParaRPr lang="en-US" altLang="en-US" sz="2800" dirty="0"/>
          </a:p>
          <a:p>
            <a:pPr eaLnBrk="1" hangingPunct="1">
              <a:lnSpc>
                <a:spcPct val="80000"/>
              </a:lnSpc>
            </a:pPr>
            <a:r>
              <a:rPr lang="en-US" altLang="en-US" sz="3600" dirty="0"/>
              <a:t>Compute P(</a:t>
            </a:r>
            <a:r>
              <a:rPr lang="en-US" altLang="en-US" sz="3600" dirty="0" err="1"/>
              <a:t>X|C</a:t>
            </a:r>
            <a:r>
              <a:rPr lang="en-US" altLang="en-US" sz="3600" baseline="-25000" dirty="0" err="1"/>
              <a:t>i</a:t>
            </a:r>
            <a:r>
              <a:rPr lang="en-US" altLang="en-US" sz="3600" dirty="0"/>
              <a:t>) for each class</a:t>
            </a:r>
          </a:p>
          <a:p>
            <a:pPr eaLnBrk="1" hangingPunct="1">
              <a:lnSpc>
                <a:spcPct val="80000"/>
              </a:lnSpc>
              <a:buFont typeface="Wingdings" panose="05000000000000000000" pitchFamily="2" charset="2"/>
              <a:buNone/>
            </a:pPr>
            <a:r>
              <a:rPr lang="en-US" altLang="en-US" sz="2800" dirty="0"/>
              <a:t>     P(age = </a:t>
            </a:r>
            <a:r>
              <a:rPr lang="ja-JP" altLang="en-US" sz="2800" dirty="0">
                <a:latin typeface="Arial" panose="020B0604020202020204" pitchFamily="34" charset="0"/>
              </a:rPr>
              <a:t>“</a:t>
            </a:r>
            <a:r>
              <a:rPr lang="en-US" altLang="ja-JP" sz="2800" dirty="0"/>
              <a:t>&lt;=30</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2/9 = 0.222</a:t>
            </a:r>
          </a:p>
          <a:p>
            <a:pPr eaLnBrk="1" hangingPunct="1">
              <a:lnSpc>
                <a:spcPct val="80000"/>
              </a:lnSpc>
              <a:buFont typeface="Wingdings" panose="05000000000000000000" pitchFamily="2" charset="2"/>
              <a:buNone/>
            </a:pPr>
            <a:r>
              <a:rPr lang="en-US" altLang="en-US" sz="2800" dirty="0"/>
              <a:t>     P(age = </a:t>
            </a:r>
            <a:r>
              <a:rPr lang="ja-JP" altLang="en-US" sz="2800" dirty="0">
                <a:latin typeface="Arial" panose="020B0604020202020204" pitchFamily="34" charset="0"/>
              </a:rPr>
              <a:t>“</a:t>
            </a:r>
            <a:r>
              <a:rPr lang="en-US" altLang="ja-JP" sz="2800" dirty="0"/>
              <a:t>&lt;= 30</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no</a:t>
            </a:r>
            <a:r>
              <a:rPr lang="ja-JP" altLang="en-US" sz="2800" dirty="0">
                <a:latin typeface="Arial" panose="020B0604020202020204" pitchFamily="34" charset="0"/>
              </a:rPr>
              <a:t>”</a:t>
            </a:r>
            <a:r>
              <a:rPr lang="en-US" altLang="ja-JP" sz="2800" dirty="0"/>
              <a:t>) = 3/5 = 0.6</a:t>
            </a:r>
          </a:p>
          <a:p>
            <a:pPr eaLnBrk="1" hangingPunct="1">
              <a:lnSpc>
                <a:spcPct val="80000"/>
              </a:lnSpc>
              <a:buFont typeface="Wingdings" panose="05000000000000000000" pitchFamily="2" charset="2"/>
              <a:buNone/>
            </a:pPr>
            <a:r>
              <a:rPr lang="en-US" altLang="en-US" sz="2800" dirty="0"/>
              <a:t>     P(income = </a:t>
            </a:r>
            <a:r>
              <a:rPr lang="ja-JP" altLang="en-US" sz="2800" dirty="0">
                <a:latin typeface="Arial" panose="020B0604020202020204" pitchFamily="34" charset="0"/>
              </a:rPr>
              <a:t>“</a:t>
            </a:r>
            <a:r>
              <a:rPr lang="en-US" altLang="ja-JP" sz="2800" dirty="0"/>
              <a:t>medium</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4/9 = 0.444</a:t>
            </a:r>
          </a:p>
          <a:p>
            <a:pPr eaLnBrk="1" hangingPunct="1">
              <a:lnSpc>
                <a:spcPct val="80000"/>
              </a:lnSpc>
              <a:buFont typeface="Wingdings" panose="05000000000000000000" pitchFamily="2" charset="2"/>
              <a:buNone/>
            </a:pPr>
            <a:r>
              <a:rPr lang="en-US" altLang="en-US" sz="2800" dirty="0"/>
              <a:t>     P(income = </a:t>
            </a:r>
            <a:r>
              <a:rPr lang="ja-JP" altLang="en-US" sz="2800" dirty="0">
                <a:latin typeface="Arial" panose="020B0604020202020204" pitchFamily="34" charset="0"/>
              </a:rPr>
              <a:t>“</a:t>
            </a:r>
            <a:r>
              <a:rPr lang="en-US" altLang="ja-JP" sz="2800" dirty="0"/>
              <a:t>medium</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no</a:t>
            </a:r>
            <a:r>
              <a:rPr lang="ja-JP" altLang="en-US" sz="2800" dirty="0">
                <a:latin typeface="Arial" panose="020B0604020202020204" pitchFamily="34" charset="0"/>
              </a:rPr>
              <a:t>”</a:t>
            </a:r>
            <a:r>
              <a:rPr lang="en-US" altLang="ja-JP" sz="2800" dirty="0"/>
              <a:t>) = 2/5 = 0.4</a:t>
            </a:r>
          </a:p>
          <a:p>
            <a:pPr eaLnBrk="1" hangingPunct="1">
              <a:lnSpc>
                <a:spcPct val="80000"/>
              </a:lnSpc>
              <a:buFont typeface="Wingdings" panose="05000000000000000000" pitchFamily="2" charset="2"/>
              <a:buNone/>
            </a:pPr>
            <a:r>
              <a:rPr lang="en-US" altLang="en-US" sz="2800" dirty="0"/>
              <a:t>     P(student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yes) = 6/9 = 0.667</a:t>
            </a:r>
          </a:p>
          <a:p>
            <a:pPr eaLnBrk="1" hangingPunct="1">
              <a:lnSpc>
                <a:spcPct val="80000"/>
              </a:lnSpc>
              <a:buFont typeface="Wingdings" panose="05000000000000000000" pitchFamily="2" charset="2"/>
              <a:buNone/>
            </a:pPr>
            <a:r>
              <a:rPr lang="en-US" altLang="en-US" sz="2800" dirty="0"/>
              <a:t>     P(student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no</a:t>
            </a:r>
            <a:r>
              <a:rPr lang="ja-JP" altLang="en-US" sz="2800" dirty="0">
                <a:latin typeface="Arial" panose="020B0604020202020204" pitchFamily="34" charset="0"/>
              </a:rPr>
              <a:t>”</a:t>
            </a:r>
            <a:r>
              <a:rPr lang="en-US" altLang="ja-JP" sz="2800" dirty="0"/>
              <a:t>) = 1/5 = 0.2</a:t>
            </a:r>
          </a:p>
          <a:p>
            <a:pPr eaLnBrk="1" hangingPunct="1">
              <a:lnSpc>
                <a:spcPct val="80000"/>
              </a:lnSpc>
              <a:buFont typeface="Wingdings" panose="05000000000000000000" pitchFamily="2" charset="2"/>
              <a:buNone/>
            </a:pPr>
            <a:r>
              <a:rPr lang="en-US" altLang="en-US" sz="2800" dirty="0"/>
              <a:t>     P(</a:t>
            </a:r>
            <a:r>
              <a:rPr lang="en-US" altLang="en-US" sz="2800" dirty="0" err="1"/>
              <a:t>credit_rating</a:t>
            </a:r>
            <a:r>
              <a:rPr lang="en-US" altLang="en-US" sz="2800" dirty="0"/>
              <a:t> = </a:t>
            </a:r>
            <a:r>
              <a:rPr lang="ja-JP" altLang="en-US" sz="2800" dirty="0">
                <a:latin typeface="Arial" panose="020B0604020202020204" pitchFamily="34" charset="0"/>
              </a:rPr>
              <a:t>“</a:t>
            </a:r>
            <a:r>
              <a:rPr lang="en-US" altLang="ja-JP" sz="2800" dirty="0"/>
              <a:t>fair</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yes</a:t>
            </a:r>
            <a:r>
              <a:rPr lang="ja-JP" altLang="en-US" sz="2800" dirty="0">
                <a:latin typeface="Arial" panose="020B0604020202020204" pitchFamily="34" charset="0"/>
              </a:rPr>
              <a:t>”</a:t>
            </a:r>
            <a:r>
              <a:rPr lang="en-US" altLang="ja-JP" sz="2800" dirty="0"/>
              <a:t>) = 6/9 = 0.667</a:t>
            </a:r>
          </a:p>
          <a:p>
            <a:pPr eaLnBrk="1" hangingPunct="1">
              <a:lnSpc>
                <a:spcPct val="80000"/>
              </a:lnSpc>
              <a:buFont typeface="Wingdings" panose="05000000000000000000" pitchFamily="2" charset="2"/>
              <a:buNone/>
            </a:pPr>
            <a:r>
              <a:rPr lang="en-US" altLang="en-US" sz="2800" dirty="0"/>
              <a:t>     P(</a:t>
            </a:r>
            <a:r>
              <a:rPr lang="en-US" altLang="en-US" sz="2800" dirty="0" err="1"/>
              <a:t>credit_rating</a:t>
            </a:r>
            <a:r>
              <a:rPr lang="en-US" altLang="en-US" sz="2800" dirty="0"/>
              <a:t> = </a:t>
            </a:r>
            <a:r>
              <a:rPr lang="ja-JP" altLang="en-US" sz="2800" dirty="0">
                <a:latin typeface="Arial" panose="020B0604020202020204" pitchFamily="34" charset="0"/>
              </a:rPr>
              <a:t>“</a:t>
            </a:r>
            <a:r>
              <a:rPr lang="en-US" altLang="ja-JP" sz="2800" dirty="0"/>
              <a:t>fair</a:t>
            </a:r>
            <a:r>
              <a:rPr lang="ja-JP" altLang="en-US" sz="2800" dirty="0">
                <a:latin typeface="Arial" panose="020B0604020202020204" pitchFamily="34" charset="0"/>
              </a:rPr>
              <a:t>”</a:t>
            </a:r>
            <a:r>
              <a:rPr lang="en-US" altLang="ja-JP" sz="2800" dirty="0"/>
              <a:t> | buys_computer = </a:t>
            </a:r>
            <a:r>
              <a:rPr lang="ja-JP" altLang="en-US" sz="2800" dirty="0">
                <a:latin typeface="Arial" panose="020B0604020202020204" pitchFamily="34" charset="0"/>
              </a:rPr>
              <a:t>“</a:t>
            </a:r>
            <a:r>
              <a:rPr lang="en-US" altLang="ja-JP" sz="2800" dirty="0"/>
              <a:t>no</a:t>
            </a:r>
            <a:r>
              <a:rPr lang="ja-JP" altLang="en-US" sz="2800" dirty="0">
                <a:latin typeface="Arial" panose="020B0604020202020204" pitchFamily="34" charset="0"/>
              </a:rPr>
              <a:t>”</a:t>
            </a:r>
            <a:r>
              <a:rPr lang="en-US" altLang="ja-JP" sz="2800" dirty="0"/>
              <a:t>) = 2/5 = 0.4</a:t>
            </a:r>
          </a:p>
          <a:p>
            <a:endParaRPr lang="en-US" dirty="0"/>
          </a:p>
        </p:txBody>
      </p:sp>
      <p:sp>
        <p:nvSpPr>
          <p:cNvPr id="4" name="Content Placeholder 3">
            <a:extLst>
              <a:ext uri="{FF2B5EF4-FFF2-40B4-BE49-F238E27FC236}">
                <a16:creationId xmlns:a16="http://schemas.microsoft.com/office/drawing/2014/main" id="{96646B88-8F70-2B95-6727-AB8750F3603F}"/>
              </a:ext>
            </a:extLst>
          </p:cNvPr>
          <p:cNvSpPr>
            <a:spLocks noGrp="1"/>
          </p:cNvSpPr>
          <p:nvPr>
            <p:ph sz="half" idx="2"/>
          </p:nvPr>
        </p:nvSpPr>
        <p:spPr/>
        <p:txBody>
          <a:bodyPr>
            <a:normAutofit fontScale="47500" lnSpcReduction="20000"/>
          </a:bodyPr>
          <a:lstStyle/>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n"/>
              <a:tabLst/>
              <a:defRPr/>
            </a:pP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 </a:t>
            </a:r>
            <a:r>
              <a:rPr kumimoji="0" lang="en-US" altLang="en-US" sz="1800" b="1" i="0" u="none" strike="noStrike" kern="0" cap="none" spc="0" normalizeH="0" baseline="0" noProof="0" dirty="0">
                <a:ln>
                  <a:noFill/>
                </a:ln>
                <a:solidFill>
                  <a:srgbClr val="FF0000"/>
                </a:solidFill>
                <a:effectLst/>
                <a:uLnTx/>
                <a:uFillTx/>
                <a:latin typeface="Tahoma"/>
                <a:ea typeface="MS PGothic" panose="020B0600070205080204" pitchFamily="34" charset="-128"/>
              </a:rPr>
              <a:t>X = (age &lt;= 30 , income = medium, student = yes, </a:t>
            </a:r>
            <a:r>
              <a:rPr kumimoji="0" lang="en-US" altLang="en-US" sz="1800" b="1" i="0" u="none" strike="noStrike" kern="0" cap="none" spc="0" normalizeH="0" baseline="0" noProof="0" dirty="0" err="1">
                <a:ln>
                  <a:noFill/>
                </a:ln>
                <a:solidFill>
                  <a:srgbClr val="FF0000"/>
                </a:solidFill>
                <a:effectLst/>
                <a:uLnTx/>
                <a:uFillTx/>
                <a:latin typeface="Tahoma"/>
                <a:ea typeface="MS PGothic" panose="020B0600070205080204" pitchFamily="34" charset="-128"/>
              </a:rPr>
              <a:t>credit_rating</a:t>
            </a:r>
            <a:r>
              <a:rPr kumimoji="0" lang="en-US" altLang="en-US" sz="1800" b="1" i="0" u="none" strike="noStrike" kern="0" cap="none" spc="0" normalizeH="0" baseline="0" noProof="0" dirty="0">
                <a:ln>
                  <a:noFill/>
                </a:ln>
                <a:solidFill>
                  <a:srgbClr val="FF0000"/>
                </a:solidFill>
                <a:effectLst/>
                <a:uLnTx/>
                <a:uFillTx/>
                <a:latin typeface="Tahoma"/>
                <a:ea typeface="MS PGothic" panose="020B0600070205080204" pitchFamily="34" charset="-128"/>
              </a:rPr>
              <a:t> = fair)</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endPar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endParaRP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a:t>
            </a: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P(</a:t>
            </a:r>
            <a:r>
              <a:rPr kumimoji="0" lang="en-US" altLang="en-US" sz="1800" b="1" i="0" u="none" strike="noStrike" kern="0" cap="none" spc="0" normalizeH="0" baseline="0" noProof="0" dirty="0" err="1">
                <a:ln>
                  <a:noFill/>
                </a:ln>
                <a:solidFill>
                  <a:srgbClr val="000000"/>
                </a:solidFill>
                <a:effectLst/>
                <a:uLnTx/>
                <a:uFillTx/>
                <a:latin typeface="Tahoma"/>
                <a:ea typeface="MS PGothic" panose="020B0600070205080204" pitchFamily="34" charset="-128"/>
              </a:rPr>
              <a:t>X|C</a:t>
            </a:r>
            <a:r>
              <a:rPr kumimoji="0" lang="en-US" altLang="en-US" sz="1800" b="1" i="0" u="none" strike="noStrike" kern="0" cap="none" spc="0" normalizeH="0" baseline="-25000" noProof="0" dirty="0" err="1">
                <a:ln>
                  <a:noFill/>
                </a:ln>
                <a:solidFill>
                  <a:srgbClr val="000000"/>
                </a:solidFill>
                <a:effectLst/>
                <a:uLnTx/>
                <a:uFillTx/>
                <a:latin typeface="Tahoma"/>
                <a:ea typeface="MS PGothic" panose="020B0600070205080204" pitchFamily="34" charset="-128"/>
              </a:rPr>
              <a:t>i</a:t>
            </a: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 :</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P(</a:t>
            </a:r>
            <a:r>
              <a:rPr kumimoji="0" lang="en-US" altLang="en-US" sz="1800" b="0" i="0" u="none" strike="noStrike" kern="0" cap="none" spc="0" normalizeH="0" baseline="0" noProof="0" dirty="0" err="1">
                <a:ln>
                  <a:noFill/>
                </a:ln>
                <a:solidFill>
                  <a:srgbClr val="000000"/>
                </a:solidFill>
                <a:effectLst/>
                <a:uLnTx/>
                <a:uFillTx/>
                <a:latin typeface="Tahoma"/>
                <a:ea typeface="MS PGothic" panose="020B0600070205080204" pitchFamily="34" charset="-128"/>
              </a:rPr>
              <a:t>X|buys_computer</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yes</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0.222 x 0.444 x 0.667 x 0.667 = 0.044</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P(</a:t>
            </a:r>
            <a:r>
              <a:rPr kumimoji="0" lang="en-US" altLang="en-US" sz="1800" b="0" i="0" u="none" strike="noStrike" kern="0" cap="none" spc="0" normalizeH="0" baseline="0" noProof="0" dirty="0" err="1">
                <a:ln>
                  <a:noFill/>
                </a:ln>
                <a:solidFill>
                  <a:srgbClr val="000000"/>
                </a:solidFill>
                <a:effectLst/>
                <a:uLnTx/>
                <a:uFillTx/>
                <a:latin typeface="Tahoma"/>
                <a:ea typeface="MS PGothic" panose="020B0600070205080204" pitchFamily="34" charset="-128"/>
              </a:rPr>
              <a:t>X|buys_computer</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no</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0.6 x 0.4 x 0.2 x 0.4 = 0.019</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endPar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endParaRP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P(</a:t>
            </a:r>
            <a:r>
              <a:rPr kumimoji="0" lang="en-US" altLang="en-US" sz="1800" b="1" i="0" u="none" strike="noStrike" kern="0" cap="none" spc="0" normalizeH="0" baseline="0" noProof="0" dirty="0" err="1">
                <a:ln>
                  <a:noFill/>
                </a:ln>
                <a:solidFill>
                  <a:srgbClr val="000000"/>
                </a:solidFill>
                <a:effectLst/>
                <a:uLnTx/>
                <a:uFillTx/>
                <a:latin typeface="Tahoma"/>
                <a:ea typeface="MS PGothic" panose="020B0600070205080204" pitchFamily="34" charset="-128"/>
              </a:rPr>
              <a:t>X|C</a:t>
            </a:r>
            <a:r>
              <a:rPr kumimoji="0" lang="en-US" altLang="en-US" sz="1800" b="1" i="0" u="none" strike="noStrike" kern="0" cap="none" spc="0" normalizeH="0" baseline="-25000" noProof="0" dirty="0" err="1">
                <a:ln>
                  <a:noFill/>
                </a:ln>
                <a:solidFill>
                  <a:srgbClr val="000000"/>
                </a:solidFill>
                <a:effectLst/>
                <a:uLnTx/>
                <a:uFillTx/>
                <a:latin typeface="Tahoma"/>
                <a:ea typeface="MS PGothic" panose="020B0600070205080204" pitchFamily="34" charset="-128"/>
              </a:rPr>
              <a:t>i</a:t>
            </a: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)*P(C</a:t>
            </a:r>
            <a:r>
              <a:rPr kumimoji="0" lang="en-US" altLang="en-US" sz="1800" b="1" i="0" u="none" strike="noStrike" kern="0" cap="none" spc="0" normalizeH="0" baseline="-25000" noProof="0" dirty="0">
                <a:ln>
                  <a:noFill/>
                </a:ln>
                <a:solidFill>
                  <a:srgbClr val="000000"/>
                </a:solidFill>
                <a:effectLst/>
                <a:uLnTx/>
                <a:uFillTx/>
                <a:latin typeface="Tahoma"/>
                <a:ea typeface="MS PGothic" panose="020B0600070205080204" pitchFamily="34" charset="-128"/>
              </a:rPr>
              <a:t>i</a:t>
            </a: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 : </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P(</a:t>
            </a:r>
            <a:r>
              <a:rPr kumimoji="0" lang="en-US" altLang="en-US" sz="1800" b="0" i="0" u="none" strike="noStrike" kern="0" cap="none" spc="0" normalizeH="0" baseline="0" noProof="0" dirty="0" err="1">
                <a:ln>
                  <a:noFill/>
                </a:ln>
                <a:solidFill>
                  <a:srgbClr val="000000"/>
                </a:solidFill>
                <a:effectLst/>
                <a:uLnTx/>
                <a:uFillTx/>
                <a:latin typeface="Tahoma"/>
                <a:ea typeface="MS PGothic" panose="020B0600070205080204" pitchFamily="34" charset="-128"/>
              </a:rPr>
              <a:t>X|buys_computer</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yes</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P(buys_computer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yes</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0.028</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		             </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P(</a:t>
            </a:r>
            <a:r>
              <a:rPr kumimoji="0" lang="en-US" altLang="en-US" sz="1800" b="0" i="0" u="none" strike="noStrike" kern="0" cap="none" spc="0" normalizeH="0" baseline="0" noProof="0" dirty="0" err="1">
                <a:ln>
                  <a:noFill/>
                </a:ln>
                <a:solidFill>
                  <a:srgbClr val="000000"/>
                </a:solidFill>
                <a:effectLst/>
                <a:uLnTx/>
                <a:uFillTx/>
                <a:latin typeface="Tahoma"/>
                <a:ea typeface="MS PGothic" panose="020B0600070205080204" pitchFamily="34" charset="-128"/>
              </a:rPr>
              <a:t>X|buys_computer</a:t>
            </a:r>
            <a:r>
              <a:rPr kumimoji="0" lang="en-US" altLang="en-US"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no</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P(buys_computer = </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no</a:t>
            </a:r>
            <a:r>
              <a:rPr kumimoji="0" lang="ja-JP"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0" i="0" u="none" strike="noStrike" kern="0" cap="none" spc="0" normalizeH="0" baseline="0" noProof="0" dirty="0">
                <a:ln>
                  <a:noFill/>
                </a:ln>
                <a:solidFill>
                  <a:srgbClr val="000000"/>
                </a:solidFill>
                <a:effectLst/>
                <a:uLnTx/>
                <a:uFillTx/>
                <a:latin typeface="Tahoma"/>
                <a:ea typeface="MS PGothic" panose="020B0600070205080204" pitchFamily="34" charset="-128"/>
              </a:rPr>
              <a:t>) = 0.007</a:t>
            </a: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endPar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endParaRPr>
          </a:p>
          <a:p>
            <a:pPr marL="342900" marR="0" lvl="0" indent="-342900" algn="l"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tabLst/>
              <a:defRPr/>
            </a:pPr>
            <a:r>
              <a:rPr kumimoji="0" lang="en-US" altLang="en-US"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Therefore,  X belongs to class (</a:t>
            </a:r>
            <a:r>
              <a:rPr kumimoji="0"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buys_computer = yes</a:t>
            </a:r>
            <a:r>
              <a:rPr kumimoji="0"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rPr>
              <a:t>”</a:t>
            </a:r>
            <a:r>
              <a:rPr kumimoji="0" lang="en-US" altLang="ja-JP" sz="1800" b="1" i="0" u="none" strike="noStrike" kern="0" cap="none" spc="0" normalizeH="0" baseline="0" noProof="0" dirty="0">
                <a:ln>
                  <a:noFill/>
                </a:ln>
                <a:solidFill>
                  <a:srgbClr val="000000"/>
                </a:solidFill>
                <a:effectLst/>
                <a:uLnTx/>
                <a:uFillTx/>
                <a:latin typeface="Tahoma"/>
                <a:ea typeface="MS PGothic" panose="020B0600070205080204" pitchFamily="34" charset="-128"/>
              </a:rPr>
              <a:t>)</a:t>
            </a:r>
            <a:endParaRPr lang="en-US" sz="1800" dirty="0"/>
          </a:p>
        </p:txBody>
      </p:sp>
    </p:spTree>
    <p:extLst>
      <p:ext uri="{BB962C8B-B14F-4D97-AF65-F5344CB8AC3E}">
        <p14:creationId xmlns:p14="http://schemas.microsoft.com/office/powerpoint/2010/main" val="725632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136263-A02F-13F1-DF4F-9CB099A1D4EF}"/>
              </a:ext>
            </a:extLst>
          </p:cNvPr>
          <p:cNvSpPr>
            <a:spLocks noGrp="1"/>
          </p:cNvSpPr>
          <p:nvPr>
            <p:ph type="title"/>
          </p:nvPr>
        </p:nvSpPr>
        <p:spPr/>
        <p:txBody>
          <a:bodyPr/>
          <a:lstStyle/>
          <a:p>
            <a:r>
              <a:rPr lang="en-US" dirty="0"/>
              <a:t>Naïve Bayesian Classifier</a:t>
            </a:r>
          </a:p>
        </p:txBody>
      </p:sp>
      <p:sp>
        <p:nvSpPr>
          <p:cNvPr id="6" name="Content Placeholder 5">
            <a:extLst>
              <a:ext uri="{FF2B5EF4-FFF2-40B4-BE49-F238E27FC236}">
                <a16:creationId xmlns:a16="http://schemas.microsoft.com/office/drawing/2014/main" id="{35811B2F-2DBC-0766-E010-EBFA1DF9DDD9}"/>
              </a:ext>
            </a:extLst>
          </p:cNvPr>
          <p:cNvSpPr>
            <a:spLocks noGrp="1"/>
          </p:cNvSpPr>
          <p:nvPr>
            <p:ph idx="1"/>
          </p:nvPr>
        </p:nvSpPr>
        <p:spPr/>
        <p:txBody>
          <a:bodyPr/>
          <a:lstStyle/>
          <a:p>
            <a:r>
              <a:rPr lang="en-US" b="1" dirty="0"/>
              <a:t>Advantages</a:t>
            </a:r>
          </a:p>
          <a:p>
            <a:pPr lvl="1"/>
            <a:r>
              <a:rPr lang="en-US" dirty="0"/>
              <a:t>Easy to implement</a:t>
            </a:r>
          </a:p>
          <a:p>
            <a:pPr lvl="1"/>
            <a:r>
              <a:rPr lang="en-US" dirty="0"/>
              <a:t>Good results obtained in most of the cases</a:t>
            </a:r>
          </a:p>
          <a:p>
            <a:r>
              <a:rPr lang="en-US" b="1" dirty="0"/>
              <a:t>Disadvantages</a:t>
            </a:r>
          </a:p>
          <a:p>
            <a:pPr lvl="1"/>
            <a:r>
              <a:rPr lang="en-US" dirty="0"/>
              <a:t>Assumption: attributes independence, therefore loss of accuracy</a:t>
            </a:r>
          </a:p>
          <a:p>
            <a:pPr lvl="1"/>
            <a:r>
              <a:rPr lang="en-US" dirty="0"/>
              <a:t>Practically, dependencies exist among variables</a:t>
            </a:r>
          </a:p>
          <a:p>
            <a:pPr lvl="2"/>
            <a:r>
              <a:rPr lang="en-US" dirty="0"/>
              <a:t>E.g., age and income</a:t>
            </a:r>
          </a:p>
          <a:p>
            <a:pPr lvl="2"/>
            <a:r>
              <a:rPr lang="en-US" dirty="0"/>
              <a:t>Dependencies among these cannot  be modeled by a Naïve Bayesian classifier</a:t>
            </a:r>
          </a:p>
        </p:txBody>
      </p:sp>
    </p:spTree>
    <p:extLst>
      <p:ext uri="{BB962C8B-B14F-4D97-AF65-F5344CB8AC3E}">
        <p14:creationId xmlns:p14="http://schemas.microsoft.com/office/powerpoint/2010/main" val="2933579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7C64-0CE9-1C0A-1113-FD29882A18BC}"/>
              </a:ext>
            </a:extLst>
          </p:cNvPr>
          <p:cNvSpPr>
            <a:spLocks noGrp="1"/>
          </p:cNvSpPr>
          <p:nvPr>
            <p:ph type="title"/>
          </p:nvPr>
        </p:nvSpPr>
        <p:spPr/>
        <p:txBody>
          <a:bodyPr/>
          <a:lstStyle/>
          <a:p>
            <a:r>
              <a:rPr lang="en-US" dirty="0"/>
              <a:t>Classifier Evaluation Metrics</a:t>
            </a:r>
          </a:p>
        </p:txBody>
      </p:sp>
      <p:sp>
        <p:nvSpPr>
          <p:cNvPr id="3" name="Text Placeholder 2">
            <a:extLst>
              <a:ext uri="{FF2B5EF4-FFF2-40B4-BE49-F238E27FC236}">
                <a16:creationId xmlns:a16="http://schemas.microsoft.com/office/drawing/2014/main" id="{C582D846-B061-5099-D75F-435FDAB39A65}"/>
              </a:ext>
            </a:extLst>
          </p:cNvPr>
          <p:cNvSpPr>
            <a:spLocks noGrp="1"/>
          </p:cNvSpPr>
          <p:nvPr>
            <p:ph type="body" idx="1"/>
          </p:nvPr>
        </p:nvSpPr>
        <p:spPr/>
        <p:txBody>
          <a:bodyPr/>
          <a:lstStyle/>
          <a:p>
            <a:r>
              <a:rPr lang="en-US" dirty="0"/>
              <a:t>Yeah, I got nothing witty :/ </a:t>
            </a:r>
          </a:p>
        </p:txBody>
      </p:sp>
      <p:pic>
        <p:nvPicPr>
          <p:cNvPr id="4" name="Picture 2" descr="Naive Bayes Classification using Scikit-learn - DataCamp">
            <a:extLst>
              <a:ext uri="{FF2B5EF4-FFF2-40B4-BE49-F238E27FC236}">
                <a16:creationId xmlns:a16="http://schemas.microsoft.com/office/drawing/2014/main" id="{0C4F38E5-3327-E610-EF90-426B8D10F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914" y="1267016"/>
            <a:ext cx="6162675"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252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E7C4-AD1F-B6D7-E6B0-E380B37634A1}"/>
              </a:ext>
            </a:extLst>
          </p:cNvPr>
          <p:cNvSpPr>
            <a:spLocks noGrp="1"/>
          </p:cNvSpPr>
          <p:nvPr>
            <p:ph type="title"/>
          </p:nvPr>
        </p:nvSpPr>
        <p:spPr/>
        <p:txBody>
          <a:bodyPr/>
          <a:lstStyle/>
          <a:p>
            <a:r>
              <a:rPr lang="en-US" dirty="0"/>
              <a:t>Model Evaluation &amp; Selection</a:t>
            </a:r>
          </a:p>
        </p:txBody>
      </p:sp>
      <p:sp>
        <p:nvSpPr>
          <p:cNvPr id="3" name="Content Placeholder 2">
            <a:extLst>
              <a:ext uri="{FF2B5EF4-FFF2-40B4-BE49-F238E27FC236}">
                <a16:creationId xmlns:a16="http://schemas.microsoft.com/office/drawing/2014/main" id="{682003E5-063E-7CE6-1FA4-AEEBF2B91950}"/>
              </a:ext>
            </a:extLst>
          </p:cNvPr>
          <p:cNvSpPr>
            <a:spLocks noGrp="1"/>
          </p:cNvSpPr>
          <p:nvPr>
            <p:ph idx="1"/>
          </p:nvPr>
        </p:nvSpPr>
        <p:spPr/>
        <p:txBody>
          <a:bodyPr>
            <a:normAutofit fontScale="92500" lnSpcReduction="10000"/>
          </a:bodyPr>
          <a:lstStyle/>
          <a:p>
            <a:pPr>
              <a:lnSpc>
                <a:spcPct val="110000"/>
              </a:lnSpc>
            </a:pPr>
            <a:r>
              <a:rPr lang="en-US" altLang="en-US" sz="2400" dirty="0"/>
              <a:t>Evaluation metrics: How can we measure accuracy?  Other metrics to consider?</a:t>
            </a:r>
          </a:p>
          <a:p>
            <a:pPr>
              <a:lnSpc>
                <a:spcPct val="110000"/>
              </a:lnSpc>
            </a:pPr>
            <a:r>
              <a:rPr lang="en-US" altLang="en-US" sz="2400" dirty="0"/>
              <a:t>Use </a:t>
            </a:r>
            <a:r>
              <a:rPr lang="en-US" altLang="en-US" sz="2400" b="1" dirty="0"/>
              <a:t>validation test set</a:t>
            </a:r>
            <a:r>
              <a:rPr lang="en-US" altLang="en-US" sz="2400" dirty="0"/>
              <a:t> of class-labeled tuples instead of training set when assessing accuracy. </a:t>
            </a:r>
          </a:p>
          <a:p>
            <a:pPr lvl="1">
              <a:lnSpc>
                <a:spcPct val="110000"/>
              </a:lnSpc>
            </a:pPr>
            <a:r>
              <a:rPr lang="en-US" altLang="en-US" sz="2400" dirty="0"/>
              <a:t>In other words, split the labeled (known) data into two parts; one for training the model and the other part for testing the model and measuring its accuracy.</a:t>
            </a:r>
          </a:p>
          <a:p>
            <a:pPr>
              <a:lnSpc>
                <a:spcPct val="110000"/>
              </a:lnSpc>
            </a:pPr>
            <a:r>
              <a:rPr lang="en-US" altLang="en-US" sz="2400" dirty="0"/>
              <a:t>Methods to split the data into training set and testing set: </a:t>
            </a:r>
          </a:p>
          <a:p>
            <a:pPr lvl="1">
              <a:lnSpc>
                <a:spcPct val="110000"/>
              </a:lnSpc>
            </a:pPr>
            <a:r>
              <a:rPr lang="en-US" altLang="en-US" sz="2400" dirty="0"/>
              <a:t>Holdout method, random subsampling</a:t>
            </a:r>
          </a:p>
          <a:p>
            <a:pPr lvl="1">
              <a:lnSpc>
                <a:spcPct val="110000"/>
              </a:lnSpc>
            </a:pPr>
            <a:r>
              <a:rPr lang="en-US" altLang="en-US" sz="2400" dirty="0"/>
              <a:t>Cross-validation</a:t>
            </a:r>
          </a:p>
          <a:p>
            <a:endParaRPr lang="en-US" dirty="0"/>
          </a:p>
        </p:txBody>
      </p:sp>
    </p:spTree>
    <p:extLst>
      <p:ext uri="{BB962C8B-B14F-4D97-AF65-F5344CB8AC3E}">
        <p14:creationId xmlns:p14="http://schemas.microsoft.com/office/powerpoint/2010/main" val="1034241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4690-8A52-D67C-1C21-F43798E296C5}"/>
              </a:ext>
            </a:extLst>
          </p:cNvPr>
          <p:cNvSpPr>
            <a:spLocks noGrp="1"/>
          </p:cNvSpPr>
          <p:nvPr>
            <p:ph type="title"/>
          </p:nvPr>
        </p:nvSpPr>
        <p:spPr/>
        <p:txBody>
          <a:bodyPr/>
          <a:lstStyle/>
          <a:p>
            <a:r>
              <a:rPr lang="en-US" dirty="0"/>
              <a:t>Evaluating Classifier Accuracy</a:t>
            </a:r>
          </a:p>
        </p:txBody>
      </p:sp>
      <p:sp>
        <p:nvSpPr>
          <p:cNvPr id="3" name="Content Placeholder 2">
            <a:extLst>
              <a:ext uri="{FF2B5EF4-FFF2-40B4-BE49-F238E27FC236}">
                <a16:creationId xmlns:a16="http://schemas.microsoft.com/office/drawing/2014/main" id="{5C9D5942-84C9-0B87-DE6A-4C2A15407010}"/>
              </a:ext>
            </a:extLst>
          </p:cNvPr>
          <p:cNvSpPr>
            <a:spLocks noGrp="1"/>
          </p:cNvSpPr>
          <p:nvPr>
            <p:ph idx="1"/>
          </p:nvPr>
        </p:nvSpPr>
        <p:spPr/>
        <p:txBody>
          <a:bodyPr>
            <a:normAutofit fontScale="77500" lnSpcReduction="20000"/>
          </a:bodyPr>
          <a:lstStyle/>
          <a:p>
            <a:pPr eaLnBrk="1" hangingPunct="1">
              <a:lnSpc>
                <a:spcPct val="80000"/>
              </a:lnSpc>
            </a:pPr>
            <a:r>
              <a:rPr lang="en-US" altLang="en-US" sz="2300" b="1" dirty="0"/>
              <a:t>Holdout method</a:t>
            </a:r>
          </a:p>
          <a:p>
            <a:pPr lvl="1" eaLnBrk="1" hangingPunct="1">
              <a:lnSpc>
                <a:spcPct val="80000"/>
              </a:lnSpc>
            </a:pPr>
            <a:r>
              <a:rPr lang="en-US" altLang="en-US" sz="2300" dirty="0"/>
              <a:t>Given data is randomly partitioned into two independent sets</a:t>
            </a:r>
          </a:p>
          <a:p>
            <a:pPr lvl="2" eaLnBrk="1" hangingPunct="1">
              <a:lnSpc>
                <a:spcPct val="80000"/>
              </a:lnSpc>
            </a:pPr>
            <a:r>
              <a:rPr lang="en-US" altLang="en-US" sz="2300" dirty="0"/>
              <a:t>Training set (e.g., 2/3) for model construction</a:t>
            </a:r>
          </a:p>
          <a:p>
            <a:pPr lvl="2" eaLnBrk="1" hangingPunct="1">
              <a:lnSpc>
                <a:spcPct val="80000"/>
              </a:lnSpc>
            </a:pPr>
            <a:r>
              <a:rPr lang="en-US" altLang="en-US" sz="2300" dirty="0"/>
              <a:t>Test set (e.g., 1/3) for accuracy estimation</a:t>
            </a:r>
          </a:p>
          <a:p>
            <a:pPr lvl="1" eaLnBrk="1" hangingPunct="1">
              <a:lnSpc>
                <a:spcPct val="80000"/>
              </a:lnSpc>
            </a:pPr>
            <a:r>
              <a:rPr lang="en-US" altLang="en-US" sz="2300" u="sng" dirty="0"/>
              <a:t>Random sampling</a:t>
            </a:r>
            <a:r>
              <a:rPr lang="en-US" altLang="en-US" sz="2300" dirty="0"/>
              <a:t>: a variation of holdout</a:t>
            </a:r>
          </a:p>
          <a:p>
            <a:pPr lvl="2" eaLnBrk="1" hangingPunct="1">
              <a:lnSpc>
                <a:spcPct val="80000"/>
              </a:lnSpc>
            </a:pPr>
            <a:r>
              <a:rPr lang="en-US" altLang="en-US" sz="2300" dirty="0"/>
              <a:t>Repeat holdout k times, accuracy = avg. of the accuracies obtained</a:t>
            </a:r>
          </a:p>
          <a:p>
            <a:pPr eaLnBrk="1" hangingPunct="1">
              <a:lnSpc>
                <a:spcPct val="80000"/>
              </a:lnSpc>
            </a:pPr>
            <a:r>
              <a:rPr lang="en-US" altLang="en-US" sz="2300" b="1" dirty="0"/>
              <a:t>Cross-validation</a:t>
            </a:r>
            <a:r>
              <a:rPr lang="en-US" altLang="en-US" sz="2300" dirty="0"/>
              <a:t> (</a:t>
            </a:r>
            <a:r>
              <a:rPr lang="en-US" altLang="en-US" sz="2300" i="1" dirty="0"/>
              <a:t>k</a:t>
            </a:r>
            <a:r>
              <a:rPr lang="en-US" altLang="en-US" sz="2300" dirty="0"/>
              <a:t>-fold, where k = 10 is most popular)</a:t>
            </a:r>
          </a:p>
          <a:p>
            <a:pPr lvl="1" eaLnBrk="1" hangingPunct="1">
              <a:lnSpc>
                <a:spcPct val="80000"/>
              </a:lnSpc>
            </a:pPr>
            <a:r>
              <a:rPr lang="en-US" altLang="en-US" sz="2300" dirty="0"/>
              <a:t>Randomly partition the data into </a:t>
            </a:r>
            <a:r>
              <a:rPr lang="en-US" altLang="en-US" sz="2300" i="1" dirty="0"/>
              <a:t>k</a:t>
            </a:r>
            <a:r>
              <a:rPr lang="en-US" altLang="en-US" sz="2300" dirty="0"/>
              <a:t> </a:t>
            </a:r>
            <a:r>
              <a:rPr lang="en-US" altLang="en-US" sz="2300" i="1" dirty="0"/>
              <a:t>mutually exclusive</a:t>
            </a:r>
            <a:r>
              <a:rPr lang="en-US" altLang="en-US" sz="2300" dirty="0"/>
              <a:t> subsets, each approximately equal size</a:t>
            </a:r>
          </a:p>
          <a:p>
            <a:pPr lvl="1" eaLnBrk="1" hangingPunct="1">
              <a:lnSpc>
                <a:spcPct val="80000"/>
              </a:lnSpc>
            </a:pPr>
            <a:r>
              <a:rPr lang="en-US" altLang="en-US" sz="2300" dirty="0"/>
              <a:t>At </a:t>
            </a:r>
            <a:r>
              <a:rPr lang="en-US" altLang="en-US" sz="2300" i="1" dirty="0" err="1"/>
              <a:t>i</a:t>
            </a:r>
            <a:r>
              <a:rPr lang="en-US" altLang="en-US" sz="2300" dirty="0" err="1"/>
              <a:t>-th</a:t>
            </a:r>
            <a:r>
              <a:rPr lang="en-US" altLang="en-US" sz="2300" dirty="0"/>
              <a:t> iteration, use D</a:t>
            </a:r>
            <a:r>
              <a:rPr lang="en-US" altLang="en-US" sz="2300" baseline="-25000" dirty="0"/>
              <a:t>i </a:t>
            </a:r>
            <a:r>
              <a:rPr lang="en-US" altLang="en-US" sz="2300" dirty="0"/>
              <a:t>as test set and others as training set</a:t>
            </a:r>
          </a:p>
          <a:p>
            <a:pPr lvl="1" eaLnBrk="1" hangingPunct="1">
              <a:lnSpc>
                <a:spcPct val="80000"/>
              </a:lnSpc>
            </a:pPr>
            <a:r>
              <a:rPr lang="en-US" altLang="en-US" sz="2300" u="sng" dirty="0"/>
              <a:t>Leave-one-out</a:t>
            </a:r>
            <a:r>
              <a:rPr lang="en-US" altLang="en-US" sz="2300" dirty="0"/>
              <a:t>: </a:t>
            </a:r>
            <a:r>
              <a:rPr lang="en-US" altLang="en-US" sz="2300" i="1" dirty="0"/>
              <a:t>k</a:t>
            </a:r>
            <a:r>
              <a:rPr lang="en-US" altLang="en-US" sz="2300" dirty="0"/>
              <a:t> folds where </a:t>
            </a:r>
            <a:r>
              <a:rPr lang="en-US" altLang="en-US" sz="2300" i="1" dirty="0"/>
              <a:t>k</a:t>
            </a:r>
            <a:r>
              <a:rPr lang="en-US" altLang="en-US" sz="2300" dirty="0"/>
              <a:t> = # of tuples, for small sized data</a:t>
            </a:r>
          </a:p>
          <a:p>
            <a:pPr lvl="1" eaLnBrk="1" hangingPunct="1">
              <a:lnSpc>
                <a:spcPct val="80000"/>
              </a:lnSpc>
            </a:pPr>
            <a:r>
              <a:rPr lang="en-US" altLang="en-US" sz="2300" b="1" u="sng" dirty="0"/>
              <a:t>*Stratified cross-validation*</a:t>
            </a:r>
            <a:r>
              <a:rPr lang="en-US" altLang="en-US" sz="2300" dirty="0"/>
              <a:t>: folds are stratified so that class dist. in each fold is approx. the same as that in the initial data</a:t>
            </a:r>
          </a:p>
          <a:p>
            <a:endParaRPr lang="en-US" dirty="0"/>
          </a:p>
        </p:txBody>
      </p:sp>
    </p:spTree>
    <p:extLst>
      <p:ext uri="{BB962C8B-B14F-4D97-AF65-F5344CB8AC3E}">
        <p14:creationId xmlns:p14="http://schemas.microsoft.com/office/powerpoint/2010/main" val="3122064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3475-BAE1-F5C5-6426-7FB9FD9ED4C7}"/>
              </a:ext>
            </a:extLst>
          </p:cNvPr>
          <p:cNvSpPr>
            <a:spLocks noGrp="1"/>
          </p:cNvSpPr>
          <p:nvPr>
            <p:ph type="title"/>
          </p:nvPr>
        </p:nvSpPr>
        <p:spPr/>
        <p:txBody>
          <a:bodyPr>
            <a:normAutofit fontScale="90000"/>
          </a:bodyPr>
          <a:lstStyle/>
          <a:p>
            <a:r>
              <a:rPr lang="en-US" sz="3200" dirty="0"/>
              <a:t>Classifier Evaluation Metrics – Primary Measures: TP, TN, FP, FN</a:t>
            </a:r>
          </a:p>
        </p:txBody>
      </p:sp>
      <p:pic>
        <p:nvPicPr>
          <p:cNvPr id="4" name="Picture 3">
            <a:extLst>
              <a:ext uri="{FF2B5EF4-FFF2-40B4-BE49-F238E27FC236}">
                <a16:creationId xmlns:a16="http://schemas.microsoft.com/office/drawing/2014/main" id="{54D7C155-D5E2-CC7F-4AE9-D6C65427DA8A}"/>
              </a:ext>
            </a:extLst>
          </p:cNvPr>
          <p:cNvPicPr>
            <a:picLocks noChangeAspect="1"/>
          </p:cNvPicPr>
          <p:nvPr/>
        </p:nvPicPr>
        <p:blipFill rotWithShape="1">
          <a:blip r:embed="rId2"/>
          <a:srcRect l="1666" r="1666"/>
          <a:stretch/>
        </p:blipFill>
        <p:spPr>
          <a:xfrm>
            <a:off x="2699902" y="2175198"/>
            <a:ext cx="7330789" cy="4460055"/>
          </a:xfrm>
          <a:prstGeom prst="rect">
            <a:avLst/>
          </a:prstGeom>
        </p:spPr>
      </p:pic>
    </p:spTree>
    <p:extLst>
      <p:ext uri="{BB962C8B-B14F-4D97-AF65-F5344CB8AC3E}">
        <p14:creationId xmlns:p14="http://schemas.microsoft.com/office/powerpoint/2010/main" val="3857350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23FBB-4182-AECC-7CDE-21F26DF2B6E5}"/>
              </a:ext>
            </a:extLst>
          </p:cNvPr>
          <p:cNvSpPr>
            <a:spLocks noGrp="1"/>
          </p:cNvSpPr>
          <p:nvPr>
            <p:ph type="title"/>
          </p:nvPr>
        </p:nvSpPr>
        <p:spPr/>
        <p:txBody>
          <a:bodyPr/>
          <a:lstStyle/>
          <a:p>
            <a:r>
              <a:rPr lang="en-US" dirty="0"/>
              <a:t>Confusion Matrix</a:t>
            </a:r>
          </a:p>
        </p:txBody>
      </p:sp>
      <p:pic>
        <p:nvPicPr>
          <p:cNvPr id="5" name="Content Placeholder 4">
            <a:extLst>
              <a:ext uri="{FF2B5EF4-FFF2-40B4-BE49-F238E27FC236}">
                <a16:creationId xmlns:a16="http://schemas.microsoft.com/office/drawing/2014/main" id="{2571C286-B9A8-DBA3-FA11-F8874C9CC137}"/>
              </a:ext>
            </a:extLst>
          </p:cNvPr>
          <p:cNvPicPr>
            <a:picLocks noGrp="1" noChangeAspect="1"/>
          </p:cNvPicPr>
          <p:nvPr>
            <p:ph idx="1"/>
          </p:nvPr>
        </p:nvPicPr>
        <p:blipFill>
          <a:blip r:embed="rId2"/>
          <a:stretch>
            <a:fillRect/>
          </a:stretch>
        </p:blipFill>
        <p:spPr>
          <a:xfrm>
            <a:off x="1979472" y="2383415"/>
            <a:ext cx="7974259" cy="1304657"/>
          </a:xfrm>
        </p:spPr>
      </p:pic>
      <p:pic>
        <p:nvPicPr>
          <p:cNvPr id="6" name="Picture 5">
            <a:extLst>
              <a:ext uri="{FF2B5EF4-FFF2-40B4-BE49-F238E27FC236}">
                <a16:creationId xmlns:a16="http://schemas.microsoft.com/office/drawing/2014/main" id="{21767B04-D787-6A70-7EF7-6AF1D53BC6CD}"/>
              </a:ext>
            </a:extLst>
          </p:cNvPr>
          <p:cNvPicPr>
            <a:picLocks noChangeAspect="1"/>
          </p:cNvPicPr>
          <p:nvPr/>
        </p:nvPicPr>
        <p:blipFill>
          <a:blip r:embed="rId3"/>
          <a:stretch>
            <a:fillRect/>
          </a:stretch>
        </p:blipFill>
        <p:spPr>
          <a:xfrm>
            <a:off x="2421471" y="4152240"/>
            <a:ext cx="7090263" cy="2030144"/>
          </a:xfrm>
          <a:prstGeom prst="rect">
            <a:avLst/>
          </a:prstGeom>
        </p:spPr>
      </p:pic>
    </p:spTree>
    <p:extLst>
      <p:ext uri="{BB962C8B-B14F-4D97-AF65-F5344CB8AC3E}">
        <p14:creationId xmlns:p14="http://schemas.microsoft.com/office/powerpoint/2010/main" val="540706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5827-F214-3374-A94C-C31708A9F41D}"/>
              </a:ext>
            </a:extLst>
          </p:cNvPr>
          <p:cNvSpPr>
            <a:spLocks noGrp="1"/>
          </p:cNvSpPr>
          <p:nvPr>
            <p:ph type="title"/>
          </p:nvPr>
        </p:nvSpPr>
        <p:spPr/>
        <p:txBody>
          <a:bodyPr/>
          <a:lstStyle/>
          <a:p>
            <a:r>
              <a:rPr lang="en-US" dirty="0"/>
              <a:t>Precision, Recall, and F-Measures</a:t>
            </a:r>
          </a:p>
        </p:txBody>
      </p:sp>
      <p:sp>
        <p:nvSpPr>
          <p:cNvPr id="3" name="Content Placeholder 2">
            <a:extLst>
              <a:ext uri="{FF2B5EF4-FFF2-40B4-BE49-F238E27FC236}">
                <a16:creationId xmlns:a16="http://schemas.microsoft.com/office/drawing/2014/main" id="{23815232-576F-84EB-6E60-4076B1DDF328}"/>
              </a:ext>
            </a:extLst>
          </p:cNvPr>
          <p:cNvSpPr>
            <a:spLocks noGrp="1"/>
          </p:cNvSpPr>
          <p:nvPr>
            <p:ph idx="1"/>
          </p:nvPr>
        </p:nvSpPr>
        <p:spPr/>
        <p:txBody>
          <a:bodyPr>
            <a:normAutofit fontScale="77500" lnSpcReduction="20000"/>
          </a:bodyPr>
          <a:lstStyle/>
          <a:p>
            <a:pPr>
              <a:lnSpc>
                <a:spcPct val="90000"/>
              </a:lnSpc>
            </a:pPr>
            <a:r>
              <a:rPr lang="en-US" altLang="en-US" sz="2400" b="1" dirty="0"/>
              <a:t>Precision</a:t>
            </a:r>
            <a:r>
              <a:rPr lang="en-US" altLang="en-US" sz="2400" dirty="0"/>
              <a:t>: exactness – what % of records that the classifier labeled as positive are actually positive</a:t>
            </a:r>
          </a:p>
          <a:p>
            <a:pPr lvl="1">
              <a:lnSpc>
                <a:spcPct val="90000"/>
              </a:lnSpc>
            </a:pPr>
            <a:endParaRPr lang="en-US" altLang="en-US" sz="2400" b="1" dirty="0"/>
          </a:p>
          <a:p>
            <a:pPr lvl="1">
              <a:lnSpc>
                <a:spcPct val="90000"/>
              </a:lnSpc>
            </a:pPr>
            <a:endParaRPr lang="en-US" altLang="en-US" sz="2400" b="1" dirty="0"/>
          </a:p>
          <a:p>
            <a:pPr>
              <a:lnSpc>
                <a:spcPct val="90000"/>
              </a:lnSpc>
            </a:pPr>
            <a:r>
              <a:rPr lang="en-US" altLang="en-US" sz="2400" b="1" dirty="0"/>
              <a:t>Recall: </a:t>
            </a:r>
            <a:r>
              <a:rPr lang="en-US" altLang="en-US" sz="2400" dirty="0"/>
              <a:t>completeness – what % of positive records did the classifier label as positive?</a:t>
            </a:r>
          </a:p>
          <a:p>
            <a:pPr>
              <a:lnSpc>
                <a:spcPct val="90000"/>
              </a:lnSpc>
            </a:pPr>
            <a:endParaRPr lang="en-US" altLang="en-US" sz="2400" dirty="0"/>
          </a:p>
          <a:p>
            <a:pPr lvl="1">
              <a:lnSpc>
                <a:spcPct val="90000"/>
              </a:lnSpc>
            </a:pPr>
            <a:endParaRPr lang="en-US" altLang="en-US" sz="2400" dirty="0"/>
          </a:p>
          <a:p>
            <a:pPr>
              <a:lnSpc>
                <a:spcPct val="80000"/>
              </a:lnSpc>
            </a:pPr>
            <a:r>
              <a:rPr lang="en-US" altLang="en-US" sz="2400" b="1" i="1" dirty="0"/>
              <a:t>F</a:t>
            </a:r>
            <a:r>
              <a:rPr lang="en-US" altLang="en-US" sz="2400" b="1" dirty="0"/>
              <a:t> measure (</a:t>
            </a:r>
            <a:r>
              <a:rPr lang="en-US" altLang="en-US" sz="2400" b="1" i="1" dirty="0"/>
              <a:t>F</a:t>
            </a:r>
            <a:r>
              <a:rPr lang="en-US" altLang="en-US" sz="2400" b="1" i="1" baseline="-25000" dirty="0"/>
              <a:t>1</a:t>
            </a:r>
            <a:r>
              <a:rPr lang="en-US" altLang="en-US" sz="2400" b="1" dirty="0"/>
              <a:t> </a:t>
            </a:r>
            <a:r>
              <a:rPr lang="en-US" altLang="en-US" sz="2400" dirty="0"/>
              <a:t>or</a:t>
            </a:r>
            <a:r>
              <a:rPr lang="en-US" altLang="en-US" sz="2400" b="1" dirty="0"/>
              <a:t> </a:t>
            </a:r>
            <a:r>
              <a:rPr lang="en-US" altLang="en-US" sz="2400" b="1" i="1" dirty="0"/>
              <a:t>F</a:t>
            </a:r>
            <a:r>
              <a:rPr lang="en-US" altLang="en-US" sz="2400" b="1" dirty="0"/>
              <a:t>-score)</a:t>
            </a:r>
            <a:r>
              <a:rPr lang="en-US" altLang="en-US" sz="2400" dirty="0"/>
              <a:t>: harmonic mean of precision and recall,</a:t>
            </a:r>
          </a:p>
          <a:p>
            <a:pPr>
              <a:lnSpc>
                <a:spcPct val="80000"/>
              </a:lnSpc>
            </a:pPr>
            <a:endParaRPr lang="en-US" altLang="en-US" sz="2400" b="1" dirty="0"/>
          </a:p>
          <a:p>
            <a:pPr>
              <a:lnSpc>
                <a:spcPct val="80000"/>
              </a:lnSpc>
            </a:pPr>
            <a:endParaRPr lang="en-US" altLang="en-US" sz="2400" dirty="0"/>
          </a:p>
          <a:p>
            <a:pPr>
              <a:lnSpc>
                <a:spcPct val="80000"/>
              </a:lnSpc>
            </a:pPr>
            <a:endParaRPr lang="en-US" altLang="en-US" sz="2400" dirty="0"/>
          </a:p>
          <a:p>
            <a:pPr>
              <a:lnSpc>
                <a:spcPct val="80000"/>
              </a:lnSpc>
            </a:pPr>
            <a:r>
              <a:rPr lang="en-US" altLang="en-US" sz="2300" dirty="0"/>
              <a:t>Perfect scores for recall, precision, and F-score is 1 (or 100%)</a:t>
            </a:r>
          </a:p>
          <a:p>
            <a:pPr>
              <a:lnSpc>
                <a:spcPct val="80000"/>
              </a:lnSpc>
            </a:pPr>
            <a:endParaRPr lang="en-US" altLang="en-US" sz="2400" b="1" dirty="0"/>
          </a:p>
          <a:p>
            <a:endParaRPr lang="en-US" dirty="0"/>
          </a:p>
        </p:txBody>
      </p:sp>
      <p:pic>
        <p:nvPicPr>
          <p:cNvPr id="4" name="Picture 7" descr="8precision">
            <a:extLst>
              <a:ext uri="{FF2B5EF4-FFF2-40B4-BE49-F238E27FC236}">
                <a16:creationId xmlns:a16="http://schemas.microsoft.com/office/drawing/2014/main" id="{5348BB8D-BCE9-A7CC-04E0-37DD8831DB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3081" y="2196970"/>
            <a:ext cx="35814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8recall">
            <a:extLst>
              <a:ext uri="{FF2B5EF4-FFF2-40B4-BE49-F238E27FC236}">
                <a16:creationId xmlns:a16="http://schemas.microsoft.com/office/drawing/2014/main" id="{5EDD4C5B-1396-1134-5841-622D39237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3081" y="3279872"/>
            <a:ext cx="31242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8F">
            <a:extLst>
              <a:ext uri="{FF2B5EF4-FFF2-40B4-BE49-F238E27FC236}">
                <a16:creationId xmlns:a16="http://schemas.microsoft.com/office/drawing/2014/main" id="{836932B8-3613-185D-4498-D3B5EBC6F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292" y="4285791"/>
            <a:ext cx="426720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8143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672DF-D3F6-DAD3-71DE-4F3EAD4B6E2A}"/>
              </a:ext>
            </a:extLst>
          </p:cNvPr>
          <p:cNvSpPr>
            <a:spLocks noGrp="1"/>
          </p:cNvSpPr>
          <p:nvPr>
            <p:ph type="title"/>
          </p:nvPr>
        </p:nvSpPr>
        <p:spPr/>
        <p:txBody>
          <a:bodyPr/>
          <a:lstStyle/>
          <a:p>
            <a:r>
              <a:rPr lang="en-US" dirty="0"/>
              <a:t>Interpreting Precision</a:t>
            </a:r>
          </a:p>
        </p:txBody>
      </p:sp>
      <p:sp>
        <p:nvSpPr>
          <p:cNvPr id="3" name="Content Placeholder 2">
            <a:extLst>
              <a:ext uri="{FF2B5EF4-FFF2-40B4-BE49-F238E27FC236}">
                <a16:creationId xmlns:a16="http://schemas.microsoft.com/office/drawing/2014/main" id="{A28BAB0B-6F04-A6C1-054E-818A4253EB69}"/>
              </a:ext>
            </a:extLst>
          </p:cNvPr>
          <p:cNvSpPr>
            <a:spLocks noGrp="1"/>
          </p:cNvSpPr>
          <p:nvPr>
            <p:ph idx="1"/>
          </p:nvPr>
        </p:nvSpPr>
        <p:spPr/>
        <p:txBody>
          <a:bodyPr>
            <a:normAutofit lnSpcReduction="10000"/>
          </a:bodyPr>
          <a:lstStyle/>
          <a:p>
            <a:pPr>
              <a:lnSpc>
                <a:spcPct val="90000"/>
              </a:lnSpc>
            </a:pPr>
            <a:r>
              <a:rPr lang="en-US" altLang="en-US" b="1" dirty="0"/>
              <a:t>Precision</a:t>
            </a:r>
            <a:r>
              <a:rPr lang="en-US" altLang="en-US" dirty="0"/>
              <a:t>: exactness – what % of records that the classifier labeled as positive are actually positive</a:t>
            </a:r>
          </a:p>
          <a:p>
            <a:pPr lvl="1">
              <a:lnSpc>
                <a:spcPct val="90000"/>
              </a:lnSpc>
            </a:pPr>
            <a:r>
              <a:rPr lang="en-US" altLang="en-US" sz="2800" b="1" dirty="0"/>
              <a:t>A high precision (95%) </a:t>
            </a:r>
            <a:r>
              <a:rPr lang="en-US" altLang="en-US" sz="2800" dirty="0"/>
              <a:t>means if the classifier detects that someone has COVID then </a:t>
            </a:r>
            <a:r>
              <a:rPr lang="en-US" altLang="en-US" sz="2800" b="1" dirty="0"/>
              <a:t>there is 95% chance that they actually have COVID (true positive). </a:t>
            </a:r>
            <a:r>
              <a:rPr lang="en-US" altLang="en-US" sz="2800" dirty="0"/>
              <a:t>However, there is 5% that the classifier is wrong and that person does not have COVID (false positive)</a:t>
            </a:r>
          </a:p>
          <a:p>
            <a:pPr lvl="1">
              <a:lnSpc>
                <a:spcPct val="90000"/>
              </a:lnSpc>
            </a:pPr>
            <a:r>
              <a:rPr lang="en-US" altLang="en-US" sz="2800" b="1" dirty="0"/>
              <a:t>A low precision (30%) </a:t>
            </a:r>
            <a:r>
              <a:rPr lang="en-US" altLang="en-US" sz="2800" dirty="0"/>
              <a:t>means that if the classifier detects that someone has COVID, then </a:t>
            </a:r>
            <a:r>
              <a:rPr lang="en-US" altLang="en-US" sz="2800" b="1" dirty="0"/>
              <a:t>there is 30% chance that they actually have COVID</a:t>
            </a:r>
            <a:r>
              <a:rPr lang="en-US" altLang="en-US" sz="2800" dirty="0"/>
              <a:t>. However, </a:t>
            </a:r>
            <a:r>
              <a:rPr lang="en-US" altLang="en-US" sz="2800" b="1" dirty="0"/>
              <a:t>there is 70% that the classifier is wrong and that person does not have COVID (false positive)</a:t>
            </a:r>
          </a:p>
          <a:p>
            <a:endParaRPr lang="en-US" dirty="0"/>
          </a:p>
        </p:txBody>
      </p:sp>
    </p:spTree>
    <p:extLst>
      <p:ext uri="{BB962C8B-B14F-4D97-AF65-F5344CB8AC3E}">
        <p14:creationId xmlns:p14="http://schemas.microsoft.com/office/powerpoint/2010/main" val="2425417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0AC53-889B-EC53-467E-BE314C6063A4}"/>
              </a:ext>
            </a:extLst>
          </p:cNvPr>
          <p:cNvSpPr>
            <a:spLocks noGrp="1"/>
          </p:cNvSpPr>
          <p:nvPr>
            <p:ph type="title"/>
          </p:nvPr>
        </p:nvSpPr>
        <p:spPr/>
        <p:txBody>
          <a:bodyPr/>
          <a:lstStyle/>
          <a:p>
            <a:r>
              <a:rPr lang="en-US" dirty="0"/>
              <a:t>Interpreting Recall</a:t>
            </a:r>
          </a:p>
        </p:txBody>
      </p:sp>
      <p:sp>
        <p:nvSpPr>
          <p:cNvPr id="3" name="Content Placeholder 2">
            <a:extLst>
              <a:ext uri="{FF2B5EF4-FFF2-40B4-BE49-F238E27FC236}">
                <a16:creationId xmlns:a16="http://schemas.microsoft.com/office/drawing/2014/main" id="{9D06902A-4711-C5C0-51CF-18B5FBCF90DF}"/>
              </a:ext>
            </a:extLst>
          </p:cNvPr>
          <p:cNvSpPr>
            <a:spLocks noGrp="1"/>
          </p:cNvSpPr>
          <p:nvPr>
            <p:ph idx="1"/>
          </p:nvPr>
        </p:nvSpPr>
        <p:spPr/>
        <p:txBody>
          <a:bodyPr>
            <a:normAutofit lnSpcReduction="10000"/>
          </a:bodyPr>
          <a:lstStyle/>
          <a:p>
            <a:pPr>
              <a:lnSpc>
                <a:spcPct val="90000"/>
              </a:lnSpc>
            </a:pPr>
            <a:r>
              <a:rPr lang="en-US" altLang="en-US" b="1" dirty="0"/>
              <a:t>Recall: </a:t>
            </a:r>
            <a:r>
              <a:rPr lang="en-US" altLang="en-US" dirty="0"/>
              <a:t>completeness – what % of positive records did the classifier label as positive?</a:t>
            </a:r>
          </a:p>
          <a:p>
            <a:pPr lvl="1">
              <a:lnSpc>
                <a:spcPct val="90000"/>
              </a:lnSpc>
            </a:pPr>
            <a:r>
              <a:rPr lang="en-US" altLang="en-US" sz="2800" b="1" dirty="0"/>
              <a:t>A high recall (90%) </a:t>
            </a:r>
            <a:r>
              <a:rPr lang="en-US" altLang="en-US" sz="2800" dirty="0"/>
              <a:t>means the classifier is able to detect 90% of people who have COVID. However, 10% will not be detected by the classifier. These 10% will be mistakenly labeled as healthy (</a:t>
            </a:r>
            <a:r>
              <a:rPr lang="en-US" altLang="en-US" sz="2800" b="1" dirty="0"/>
              <a:t>false negative</a:t>
            </a:r>
            <a:r>
              <a:rPr lang="en-US" altLang="en-US" sz="2800" dirty="0"/>
              <a:t>)</a:t>
            </a:r>
          </a:p>
          <a:p>
            <a:pPr lvl="1">
              <a:lnSpc>
                <a:spcPct val="90000"/>
              </a:lnSpc>
            </a:pPr>
            <a:r>
              <a:rPr lang="en-US" altLang="en-US" sz="2800" dirty="0"/>
              <a:t>A low recall (20%) means that the classifier detects only 20% of people who have COVID. However, it misses 80% of people who have COVID and mistakenly label them as not having COVID (or healthy) (</a:t>
            </a:r>
            <a:r>
              <a:rPr lang="en-US" altLang="en-US" sz="2800" b="1" dirty="0"/>
              <a:t>false negative</a:t>
            </a:r>
            <a:r>
              <a:rPr lang="en-US" altLang="en-US" sz="2800" dirty="0"/>
              <a:t>)</a:t>
            </a:r>
          </a:p>
          <a:p>
            <a:endParaRPr lang="en-US" dirty="0"/>
          </a:p>
        </p:txBody>
      </p:sp>
    </p:spTree>
    <p:extLst>
      <p:ext uri="{BB962C8B-B14F-4D97-AF65-F5344CB8AC3E}">
        <p14:creationId xmlns:p14="http://schemas.microsoft.com/office/powerpoint/2010/main" val="2542388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81DD4-2A77-1C49-0F60-1A0F0063E3AB}"/>
              </a:ext>
            </a:extLst>
          </p:cNvPr>
          <p:cNvSpPr>
            <a:spLocks noGrp="1"/>
          </p:cNvSpPr>
          <p:nvPr>
            <p:ph type="title"/>
          </p:nvPr>
        </p:nvSpPr>
        <p:spPr/>
        <p:txBody>
          <a:bodyPr/>
          <a:lstStyle/>
          <a:p>
            <a:r>
              <a:rPr lang="en-US" dirty="0"/>
              <a:t>Recall vs. Precision</a:t>
            </a:r>
          </a:p>
        </p:txBody>
      </p:sp>
      <p:sp>
        <p:nvSpPr>
          <p:cNvPr id="3" name="Content Placeholder 2">
            <a:extLst>
              <a:ext uri="{FF2B5EF4-FFF2-40B4-BE49-F238E27FC236}">
                <a16:creationId xmlns:a16="http://schemas.microsoft.com/office/drawing/2014/main" id="{51FFC398-6D21-FBCE-CB33-5046AEDEBC1D}"/>
              </a:ext>
            </a:extLst>
          </p:cNvPr>
          <p:cNvSpPr>
            <a:spLocks noGrp="1"/>
          </p:cNvSpPr>
          <p:nvPr>
            <p:ph idx="1"/>
          </p:nvPr>
        </p:nvSpPr>
        <p:spPr/>
        <p:txBody>
          <a:bodyPr>
            <a:normAutofit fontScale="70000" lnSpcReduction="20000"/>
          </a:bodyPr>
          <a:lstStyle/>
          <a:p>
            <a:r>
              <a:rPr lang="en-US" sz="2800" dirty="0"/>
              <a:t>In a perfect world, </a:t>
            </a:r>
            <a:r>
              <a:rPr lang="en-US" sz="2800" b="1" dirty="0"/>
              <a:t>high recall and</a:t>
            </a:r>
            <a:r>
              <a:rPr lang="en-US" sz="2800" dirty="0"/>
              <a:t> </a:t>
            </a:r>
            <a:r>
              <a:rPr lang="en-US" sz="2800" b="1" dirty="0"/>
              <a:t>high precision is best </a:t>
            </a:r>
            <a:r>
              <a:rPr lang="en-US" sz="2800" dirty="0"/>
              <a:t>(i.e., your classifier is exact and complete)</a:t>
            </a:r>
          </a:p>
          <a:p>
            <a:r>
              <a:rPr lang="en-US" sz="2800" dirty="0"/>
              <a:t>Often, one classifier achieves high recall and low precision. Another classifier achieves low recall and high precision. </a:t>
            </a:r>
          </a:p>
          <a:p>
            <a:r>
              <a:rPr lang="en-US" sz="2800" dirty="0"/>
              <a:t>Choosing a classifier that achieves </a:t>
            </a:r>
            <a:r>
              <a:rPr lang="en-US" sz="2800" b="1" dirty="0"/>
              <a:t>high recall and low precision</a:t>
            </a:r>
            <a:r>
              <a:rPr lang="en-US" sz="2800" dirty="0"/>
              <a:t>: means you are ok with incorrectly detecting that some people have COVID when they are healthy (ok </a:t>
            </a:r>
            <a:r>
              <a:rPr lang="en-US" sz="2800" b="1" dirty="0"/>
              <a:t>with higher false positives</a:t>
            </a:r>
            <a:r>
              <a:rPr lang="en-US" sz="2800" dirty="0"/>
              <a:t>), as long as you do not miss people who actually have COVID and send them home (want </a:t>
            </a:r>
            <a:r>
              <a:rPr lang="en-US" sz="2800" b="1" dirty="0"/>
              <a:t>lower false negatives</a:t>
            </a:r>
            <a:r>
              <a:rPr lang="en-US" sz="2800" dirty="0"/>
              <a:t>)</a:t>
            </a:r>
          </a:p>
          <a:p>
            <a:r>
              <a:rPr lang="en-US" sz="2800" dirty="0"/>
              <a:t>Choosing a classifier that achieves </a:t>
            </a:r>
            <a:r>
              <a:rPr lang="en-US" sz="2800" b="1" dirty="0"/>
              <a:t>low recall and high precision</a:t>
            </a:r>
            <a:r>
              <a:rPr lang="en-US" sz="2800" dirty="0"/>
              <a:t>: means you are ok with miss diagnosing people who have COVID as healthy (</a:t>
            </a:r>
            <a:r>
              <a:rPr lang="en-US" sz="2800" b="1" dirty="0"/>
              <a:t>ok with higher false negative</a:t>
            </a:r>
            <a:r>
              <a:rPr lang="en-US" sz="2800" dirty="0"/>
              <a:t>), as long as often when your classifier says someone has COVID, that will be a correct detection (</a:t>
            </a:r>
            <a:r>
              <a:rPr lang="en-US" sz="2800" b="1" dirty="0"/>
              <a:t>want lower false positives</a:t>
            </a:r>
            <a:r>
              <a:rPr lang="en-US" sz="2800" dirty="0"/>
              <a:t>)</a:t>
            </a:r>
          </a:p>
        </p:txBody>
      </p:sp>
    </p:spTree>
    <p:extLst>
      <p:ext uri="{BB962C8B-B14F-4D97-AF65-F5344CB8AC3E}">
        <p14:creationId xmlns:p14="http://schemas.microsoft.com/office/powerpoint/2010/main" val="1856677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0F74-AFFA-5A3F-E53D-1CD8AC7EC1EB}"/>
              </a:ext>
            </a:extLst>
          </p:cNvPr>
          <p:cNvSpPr>
            <a:spLocks noGrp="1"/>
          </p:cNvSpPr>
          <p:nvPr>
            <p:ph type="title"/>
          </p:nvPr>
        </p:nvSpPr>
        <p:spPr/>
        <p:txBody>
          <a:bodyPr/>
          <a:lstStyle/>
          <a:p>
            <a:r>
              <a:rPr lang="en-US" dirty="0"/>
              <a:t>F-Score</a:t>
            </a:r>
          </a:p>
        </p:txBody>
      </p:sp>
      <p:sp>
        <p:nvSpPr>
          <p:cNvPr id="3" name="Content Placeholder 2">
            <a:extLst>
              <a:ext uri="{FF2B5EF4-FFF2-40B4-BE49-F238E27FC236}">
                <a16:creationId xmlns:a16="http://schemas.microsoft.com/office/drawing/2014/main" id="{27C83241-4FF4-0FDD-64C3-4AA6E429C205}"/>
              </a:ext>
            </a:extLst>
          </p:cNvPr>
          <p:cNvSpPr>
            <a:spLocks noGrp="1"/>
          </p:cNvSpPr>
          <p:nvPr>
            <p:ph idx="1"/>
          </p:nvPr>
        </p:nvSpPr>
        <p:spPr/>
        <p:txBody>
          <a:bodyPr>
            <a:normAutofit/>
          </a:bodyPr>
          <a:lstStyle/>
          <a:p>
            <a:r>
              <a:rPr lang="en-US" sz="2800" dirty="0"/>
              <a:t>Completeness vs Exactness is often not the decision for a data analyst to make (its for stakeholders such as physicians)</a:t>
            </a:r>
          </a:p>
          <a:p>
            <a:r>
              <a:rPr lang="en-US" sz="2800" dirty="0"/>
              <a:t>The F-score is a value that balances the recall and precision. It boils them to one value that can be used to measure the accuracy of classifiers. </a:t>
            </a:r>
          </a:p>
          <a:p>
            <a:r>
              <a:rPr lang="en-US" sz="2800" dirty="0"/>
              <a:t>Many data analysts measure the F-score for the models and try to maximize it. </a:t>
            </a:r>
          </a:p>
          <a:p>
            <a:endParaRPr lang="en-US" dirty="0"/>
          </a:p>
        </p:txBody>
      </p:sp>
      <p:pic>
        <p:nvPicPr>
          <p:cNvPr id="4" name="Picture 7" descr="8F">
            <a:extLst>
              <a:ext uri="{FF2B5EF4-FFF2-40B4-BE49-F238E27FC236}">
                <a16:creationId xmlns:a16="http://schemas.microsoft.com/office/drawing/2014/main" id="{281396E9-6C33-9051-C3CA-C1B374FE0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5293120"/>
            <a:ext cx="426720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0362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EE0E9-DF26-5522-310E-DD03C0853E3E}"/>
              </a:ext>
            </a:extLst>
          </p:cNvPr>
          <p:cNvSpPr>
            <a:spLocks noGrp="1"/>
          </p:cNvSpPr>
          <p:nvPr>
            <p:ph type="title"/>
          </p:nvPr>
        </p:nvSpPr>
        <p:spPr>
          <a:xfrm>
            <a:off x="838200" y="382378"/>
            <a:ext cx="10515600" cy="1325563"/>
          </a:xfrm>
        </p:spPr>
        <p:txBody>
          <a:bodyPr/>
          <a:lstStyle/>
          <a:p>
            <a:r>
              <a:rPr lang="en-US" dirty="0"/>
              <a:t>Classifier Evaluation Metrics: Example</a:t>
            </a:r>
          </a:p>
        </p:txBody>
      </p:sp>
      <p:sp>
        <p:nvSpPr>
          <p:cNvPr id="3" name="Content Placeholder 2">
            <a:extLst>
              <a:ext uri="{FF2B5EF4-FFF2-40B4-BE49-F238E27FC236}">
                <a16:creationId xmlns:a16="http://schemas.microsoft.com/office/drawing/2014/main" id="{0C138A1F-1EF4-9511-3DCC-DDFB28BA8B9B}"/>
              </a:ext>
            </a:extLst>
          </p:cNvPr>
          <p:cNvSpPr>
            <a:spLocks noGrp="1"/>
          </p:cNvSpPr>
          <p:nvPr>
            <p:ph idx="1"/>
          </p:nvPr>
        </p:nvSpPr>
        <p:spPr/>
        <p:txBody>
          <a:bodyPr/>
          <a:lstStyle/>
          <a:p>
            <a:r>
              <a:rPr lang="en-US" dirty="0"/>
              <a:t>Precision = 90/230 = 39.13% (inaccurate)</a:t>
            </a:r>
          </a:p>
          <a:p>
            <a:r>
              <a:rPr lang="en-US" dirty="0"/>
              <a:t>Recall = 90/300 = 30.00% (bad detection)</a:t>
            </a:r>
          </a:p>
        </p:txBody>
      </p:sp>
      <p:pic>
        <p:nvPicPr>
          <p:cNvPr id="7" name="Picture 6">
            <a:extLst>
              <a:ext uri="{FF2B5EF4-FFF2-40B4-BE49-F238E27FC236}">
                <a16:creationId xmlns:a16="http://schemas.microsoft.com/office/drawing/2014/main" id="{64AE9FC0-1B7F-74B9-AD8A-87B725AFF2D3}"/>
              </a:ext>
            </a:extLst>
          </p:cNvPr>
          <p:cNvPicPr>
            <a:picLocks noChangeAspect="1"/>
          </p:cNvPicPr>
          <p:nvPr/>
        </p:nvPicPr>
        <p:blipFill>
          <a:blip r:embed="rId2"/>
          <a:stretch>
            <a:fillRect/>
          </a:stretch>
        </p:blipFill>
        <p:spPr>
          <a:xfrm>
            <a:off x="1645533" y="4878332"/>
            <a:ext cx="8900931" cy="1597290"/>
          </a:xfrm>
          <a:prstGeom prst="rect">
            <a:avLst/>
          </a:prstGeom>
        </p:spPr>
      </p:pic>
    </p:spTree>
    <p:extLst>
      <p:ext uri="{BB962C8B-B14F-4D97-AF65-F5344CB8AC3E}">
        <p14:creationId xmlns:p14="http://schemas.microsoft.com/office/powerpoint/2010/main" val="211834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DA0C-EC99-9D62-9408-82444493AC21}"/>
              </a:ext>
            </a:extLst>
          </p:cNvPr>
          <p:cNvSpPr>
            <a:spLocks noGrp="1"/>
          </p:cNvSpPr>
          <p:nvPr>
            <p:ph type="title"/>
          </p:nvPr>
        </p:nvSpPr>
        <p:spPr/>
        <p:txBody>
          <a:bodyPr/>
          <a:lstStyle/>
          <a:p>
            <a:r>
              <a:rPr lang="en-US" dirty="0"/>
              <a:t>Keep in Mind: Evaluation of Classification Methods</a:t>
            </a:r>
          </a:p>
        </p:txBody>
      </p:sp>
      <p:sp>
        <p:nvSpPr>
          <p:cNvPr id="3" name="Content Placeholder 2">
            <a:extLst>
              <a:ext uri="{FF2B5EF4-FFF2-40B4-BE49-F238E27FC236}">
                <a16:creationId xmlns:a16="http://schemas.microsoft.com/office/drawing/2014/main" id="{A54E0893-E7F1-EFE1-22BF-F69A7C181B66}"/>
              </a:ext>
            </a:extLst>
          </p:cNvPr>
          <p:cNvSpPr>
            <a:spLocks noGrp="1"/>
          </p:cNvSpPr>
          <p:nvPr>
            <p:ph idx="1"/>
          </p:nvPr>
        </p:nvSpPr>
        <p:spPr/>
        <p:txBody>
          <a:bodyPr>
            <a:normAutofit fontScale="70000" lnSpcReduction="20000"/>
          </a:bodyPr>
          <a:lstStyle/>
          <a:p>
            <a:pPr>
              <a:defRPr/>
            </a:pPr>
            <a:r>
              <a:rPr lang="en-US" sz="2400" b="1" dirty="0">
                <a:ea typeface="+mn-ea"/>
                <a:cs typeface="+mn-cs"/>
              </a:rPr>
              <a:t>Accuracy</a:t>
            </a:r>
          </a:p>
          <a:p>
            <a:pPr lvl="1">
              <a:defRPr/>
            </a:pPr>
            <a:r>
              <a:rPr lang="en-US" sz="2400" dirty="0">
                <a:ea typeface="+mn-ea"/>
              </a:rPr>
              <a:t>classifier accuracy: predicting class label</a:t>
            </a:r>
          </a:p>
          <a:p>
            <a:pPr>
              <a:defRPr/>
            </a:pPr>
            <a:r>
              <a:rPr lang="en-US" sz="2400" b="1" dirty="0">
                <a:ea typeface="+mn-ea"/>
                <a:cs typeface="+mn-cs"/>
              </a:rPr>
              <a:t>Speed</a:t>
            </a:r>
          </a:p>
          <a:p>
            <a:pPr lvl="1">
              <a:defRPr/>
            </a:pPr>
            <a:r>
              <a:rPr lang="en-US" sz="2400" dirty="0">
                <a:ea typeface="+mn-ea"/>
              </a:rPr>
              <a:t>time to construct the model (training time)</a:t>
            </a:r>
          </a:p>
          <a:p>
            <a:pPr lvl="1">
              <a:defRPr/>
            </a:pPr>
            <a:r>
              <a:rPr lang="en-US" sz="2400" dirty="0">
                <a:ea typeface="+mn-ea"/>
              </a:rPr>
              <a:t>time to use the model (classification/prediction time)</a:t>
            </a:r>
          </a:p>
          <a:p>
            <a:pPr>
              <a:defRPr/>
            </a:pPr>
            <a:r>
              <a:rPr lang="en-US" sz="2400" b="1" dirty="0">
                <a:ea typeface="+mn-ea"/>
                <a:cs typeface="+mn-cs"/>
              </a:rPr>
              <a:t>Robustness</a:t>
            </a:r>
            <a:r>
              <a:rPr lang="en-US" sz="2400" dirty="0">
                <a:ea typeface="+mn-ea"/>
                <a:cs typeface="+mn-cs"/>
              </a:rPr>
              <a:t>: handling noise and missing values</a:t>
            </a:r>
          </a:p>
          <a:p>
            <a:pPr>
              <a:defRPr/>
            </a:pPr>
            <a:r>
              <a:rPr lang="en-US" sz="2400" b="1" dirty="0">
                <a:ea typeface="+mn-ea"/>
                <a:cs typeface="+mn-cs"/>
              </a:rPr>
              <a:t>Scalability</a:t>
            </a:r>
            <a:r>
              <a:rPr lang="en-US" sz="2400" dirty="0">
                <a:ea typeface="+mn-ea"/>
                <a:cs typeface="+mn-cs"/>
              </a:rPr>
              <a:t>: efficiency in dealing with a large amount of data</a:t>
            </a:r>
          </a:p>
          <a:p>
            <a:pPr>
              <a:defRPr/>
            </a:pPr>
            <a:r>
              <a:rPr lang="en-US" sz="2400" b="1" dirty="0">
                <a:ea typeface="+mn-ea"/>
                <a:cs typeface="+mn-cs"/>
              </a:rPr>
              <a:t>Interpretability</a:t>
            </a:r>
          </a:p>
          <a:p>
            <a:pPr lvl="1">
              <a:defRPr/>
            </a:pPr>
            <a:r>
              <a:rPr lang="en-US" sz="2400" dirty="0">
                <a:ea typeface="+mn-ea"/>
              </a:rPr>
              <a:t>understanding and insight provided by the model</a:t>
            </a:r>
          </a:p>
          <a:p>
            <a:pPr>
              <a:defRPr/>
            </a:pPr>
            <a:r>
              <a:rPr lang="en-US" sz="2400" dirty="0">
                <a:ea typeface="+mn-ea"/>
                <a:cs typeface="+mn-cs"/>
              </a:rPr>
              <a:t>Other measures, e.g., goodness of rules, such as decision tree size or compactness of classification rules</a:t>
            </a:r>
          </a:p>
          <a:p>
            <a:endParaRPr lang="en-US" dirty="0"/>
          </a:p>
        </p:txBody>
      </p:sp>
    </p:spTree>
    <p:extLst>
      <p:ext uri="{BB962C8B-B14F-4D97-AF65-F5344CB8AC3E}">
        <p14:creationId xmlns:p14="http://schemas.microsoft.com/office/powerpoint/2010/main" val="2007258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2053B-87CB-DF5F-1694-1BC95B60FA6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71FEA95-A5C4-654B-89E2-6CB03089B2DD}"/>
              </a:ext>
            </a:extLst>
          </p:cNvPr>
          <p:cNvSpPr>
            <a:spLocks noGrp="1"/>
          </p:cNvSpPr>
          <p:nvPr>
            <p:ph idx="1"/>
          </p:nvPr>
        </p:nvSpPr>
        <p:spPr/>
        <p:txBody>
          <a:bodyPr>
            <a:normAutofit fontScale="70000" lnSpcReduction="20000"/>
          </a:bodyPr>
          <a:lstStyle/>
          <a:p>
            <a:pPr>
              <a:lnSpc>
                <a:spcPct val="120000"/>
              </a:lnSpc>
            </a:pPr>
            <a:r>
              <a:rPr lang="en-US" altLang="en-US" sz="2800" b="1" dirty="0"/>
              <a:t>Classification</a:t>
            </a:r>
            <a:r>
              <a:rPr lang="en-US" altLang="en-US" sz="2800" dirty="0"/>
              <a:t> and </a:t>
            </a:r>
            <a:r>
              <a:rPr lang="en-US" altLang="en-US" sz="2800" b="1" dirty="0"/>
              <a:t>prediction</a:t>
            </a:r>
            <a:r>
              <a:rPr lang="en-US" altLang="en-US" sz="2800" dirty="0"/>
              <a:t> are two forms of data analysis that can be used to extract models describing important data classes or to predict future data trends. </a:t>
            </a:r>
          </a:p>
          <a:p>
            <a:pPr>
              <a:lnSpc>
                <a:spcPct val="130000"/>
              </a:lnSpc>
              <a:defRPr/>
            </a:pPr>
            <a:r>
              <a:rPr lang="en-US" sz="2800" b="1" dirty="0">
                <a:ea typeface="+mn-ea"/>
                <a:cs typeface="+mn-cs"/>
              </a:rPr>
              <a:t>Stratified k-fold cross-validation </a:t>
            </a:r>
            <a:r>
              <a:rPr lang="en-US" sz="2800" dirty="0">
                <a:ea typeface="+mn-ea"/>
                <a:cs typeface="+mn-cs"/>
              </a:rPr>
              <a:t>is a recommended method for splitting the data into training set and testing set for accuracy estimation.  </a:t>
            </a:r>
          </a:p>
          <a:p>
            <a:pPr>
              <a:lnSpc>
                <a:spcPct val="130000"/>
              </a:lnSpc>
              <a:defRPr/>
            </a:pPr>
            <a:r>
              <a:rPr lang="en-US" sz="2800" b="1" dirty="0">
                <a:ea typeface="+mn-ea"/>
                <a:cs typeface="+mn-cs"/>
              </a:rPr>
              <a:t>Recall</a:t>
            </a:r>
            <a:r>
              <a:rPr lang="en-US" sz="2800" dirty="0">
                <a:ea typeface="+mn-ea"/>
                <a:cs typeface="+mn-cs"/>
              </a:rPr>
              <a:t>, </a:t>
            </a:r>
            <a:r>
              <a:rPr lang="en-US" sz="2800" b="1" dirty="0">
                <a:ea typeface="+mn-ea"/>
                <a:cs typeface="+mn-cs"/>
              </a:rPr>
              <a:t>Precision</a:t>
            </a:r>
            <a:r>
              <a:rPr lang="en-US" sz="2800" dirty="0">
                <a:ea typeface="+mn-ea"/>
                <a:cs typeface="+mn-cs"/>
              </a:rPr>
              <a:t>, and </a:t>
            </a:r>
            <a:r>
              <a:rPr lang="en-US" sz="2800" b="1" dirty="0">
                <a:ea typeface="+mn-ea"/>
                <a:cs typeface="+mn-cs"/>
              </a:rPr>
              <a:t>F-score</a:t>
            </a:r>
            <a:r>
              <a:rPr lang="en-US" sz="2800" dirty="0">
                <a:ea typeface="+mn-ea"/>
                <a:cs typeface="+mn-cs"/>
              </a:rPr>
              <a:t> are useful for model accuracy evaluation.</a:t>
            </a:r>
          </a:p>
          <a:p>
            <a:pPr>
              <a:lnSpc>
                <a:spcPct val="130000"/>
              </a:lnSpc>
              <a:defRPr/>
            </a:pPr>
            <a:r>
              <a:rPr lang="en-US" sz="2800" dirty="0">
                <a:ea typeface="+mn-ea"/>
                <a:cs typeface="+mn-cs"/>
              </a:rPr>
              <a:t>There have been numerous comparisons of the different classification and prediction methods, No single method has been found to be superior over all others for all data sets</a:t>
            </a:r>
          </a:p>
          <a:p>
            <a:pPr>
              <a:lnSpc>
                <a:spcPct val="130000"/>
              </a:lnSpc>
              <a:defRPr/>
            </a:pPr>
            <a:r>
              <a:rPr lang="en-US" sz="2800" dirty="0">
                <a:ea typeface="+mn-ea"/>
                <a:cs typeface="+mn-cs"/>
              </a:rPr>
              <a:t>Issues such as accuracy, training time, robustness, interpretability, and scalability must be considered and can involve trade-offs, further complicating the quest for an overall superior method</a:t>
            </a:r>
          </a:p>
          <a:p>
            <a:endParaRPr lang="en-US" dirty="0"/>
          </a:p>
        </p:txBody>
      </p:sp>
    </p:spTree>
    <p:extLst>
      <p:ext uri="{BB962C8B-B14F-4D97-AF65-F5344CB8AC3E}">
        <p14:creationId xmlns:p14="http://schemas.microsoft.com/office/powerpoint/2010/main" val="3257957507"/>
      </p:ext>
    </p:extLst>
  </p:cSld>
  <p:clrMapOvr>
    <a:masterClrMapping/>
  </p:clrMapOvr>
</p:sld>
</file>

<file path=ppt/theme/theme1.xml><?xml version="1.0" encoding="utf-8"?>
<a:theme xmlns:a="http://schemas.openxmlformats.org/drawingml/2006/main" name="Dividend">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E3D5299D53DD4F92750B920CACDD8B" ma:contentTypeVersion="15" ma:contentTypeDescription="Create a new document." ma:contentTypeScope="" ma:versionID="ffa0d2875792b92f9f630300ab385849">
  <xsd:schema xmlns:xsd="http://www.w3.org/2001/XMLSchema" xmlns:xs="http://www.w3.org/2001/XMLSchema" xmlns:p="http://schemas.microsoft.com/office/2006/metadata/properties" xmlns:ns3="30021673-b764-4ea0-96dd-5422882bb8ea" xmlns:ns4="ddcfba28-856d-4590-8425-c87a26fa9f02" targetNamespace="http://schemas.microsoft.com/office/2006/metadata/properties" ma:root="true" ma:fieldsID="5a924b0bbcde8baec66d50d2a0dcd439" ns3:_="" ns4:_="">
    <xsd:import namespace="30021673-b764-4ea0-96dd-5422882bb8ea"/>
    <xsd:import namespace="ddcfba28-856d-4590-8425-c87a26fa9f02"/>
    <xsd:element name="properties">
      <xsd:complexType>
        <xsd:sequence>
          <xsd:element name="documentManagement">
            <xsd:complexType>
              <xsd:all>
                <xsd:element ref="ns3:MediaServiceMetadata" minOccurs="0"/>
                <xsd:element ref="ns3:MediaServiceFastMetadata" minOccurs="0"/>
                <xsd:element ref="ns3:MediaServiceAutoTags" minOccurs="0"/>
                <xsd:element ref="ns4:SharedWithUsers" minOccurs="0"/>
                <xsd:element ref="ns4:SharedWithDetails" minOccurs="0"/>
                <xsd:element ref="ns4:SharingHintHash"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021673-b764-4ea0-96dd-5422882bb8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cfba28-856d-4590-8425-c87a26fa9f0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0021673-b764-4ea0-96dd-5422882bb8ea" xsi:nil="true"/>
  </documentManagement>
</p:properties>
</file>

<file path=customXml/itemProps1.xml><?xml version="1.0" encoding="utf-8"?>
<ds:datastoreItem xmlns:ds="http://schemas.openxmlformats.org/officeDocument/2006/customXml" ds:itemID="{BD951F66-2599-4DEE-8303-E5BE5D0E61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021673-b764-4ea0-96dd-5422882bb8ea"/>
    <ds:schemaRef ds:uri="ddcfba28-856d-4590-8425-c87a26fa9f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0643E4-B4B4-4E01-A723-1E8D4F002EA2}">
  <ds:schemaRefs>
    <ds:schemaRef ds:uri="http://schemas.microsoft.com/sharepoint/v3/contenttype/forms"/>
  </ds:schemaRefs>
</ds:datastoreItem>
</file>

<file path=customXml/itemProps3.xml><?xml version="1.0" encoding="utf-8"?>
<ds:datastoreItem xmlns:ds="http://schemas.openxmlformats.org/officeDocument/2006/customXml" ds:itemID="{90A1A9AF-6B6F-4AEB-8398-88A94558481B}">
  <ds:schemaRefs>
    <ds:schemaRef ds:uri="http://schemas.microsoft.com/office/2006/documentManagement/types"/>
    <ds:schemaRef ds:uri="http://schemas.microsoft.com/office/2006/metadata/properties"/>
    <ds:schemaRef ds:uri="http://www.w3.org/XML/1998/namespace"/>
    <ds:schemaRef ds:uri="http://purl.org/dc/elements/1.1/"/>
    <ds:schemaRef ds:uri="30021673-b764-4ea0-96dd-5422882bb8ea"/>
    <ds:schemaRef ds:uri="http://purl.org/dc/dcmitype/"/>
    <ds:schemaRef ds:uri="http://schemas.microsoft.com/office/infopath/2007/PartnerControls"/>
    <ds:schemaRef ds:uri="http://schemas.openxmlformats.org/package/2006/metadata/core-properties"/>
    <ds:schemaRef ds:uri="ddcfba28-856d-4590-8425-c87a26fa9f02"/>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1675</TotalTime>
  <Words>2444</Words>
  <Application>Microsoft Macintosh PowerPoint</Application>
  <PresentationFormat>Widescreen</PresentationFormat>
  <Paragraphs>203</Paragraphs>
  <Slides>38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5" baseType="lpstr">
      <vt:lpstr>Arial</vt:lpstr>
      <vt:lpstr>Gill Sans MT</vt:lpstr>
      <vt:lpstr>Tahoma</vt:lpstr>
      <vt:lpstr>Wingdings</vt:lpstr>
      <vt:lpstr>Wingdings 2</vt:lpstr>
      <vt:lpstr>Dividend</vt:lpstr>
      <vt:lpstr>Worksheet</vt:lpstr>
      <vt:lpstr>Classification</vt:lpstr>
      <vt:lpstr>Topics</vt:lpstr>
      <vt:lpstr>Basic Concepts of Classification</vt:lpstr>
      <vt:lpstr>Example Application</vt:lpstr>
      <vt:lpstr>Machine Learning and Our Focus</vt:lpstr>
      <vt:lpstr>Data and the Goal</vt:lpstr>
      <vt:lpstr>Example: Loan Application</vt:lpstr>
      <vt:lpstr>The Learning Task</vt:lpstr>
      <vt:lpstr>Classification – A Two-Step Process</vt:lpstr>
      <vt:lpstr>Classification – A Two-Step Process</vt:lpstr>
      <vt:lpstr>Process (1): Model Construction</vt:lpstr>
      <vt:lpstr>Process (2): Using the Model in Prediction</vt:lpstr>
      <vt:lpstr>Decision Trees</vt:lpstr>
      <vt:lpstr>Decision Tree Induction: buys_computer Dataset</vt:lpstr>
      <vt:lpstr>Decision Tree Induction: An Example</vt:lpstr>
      <vt:lpstr>Decision Tree Construction Algorithm</vt:lpstr>
      <vt:lpstr>Attribute Selection Measures</vt:lpstr>
      <vt:lpstr>Gini Impurity</vt:lpstr>
      <vt:lpstr>Attribute Selection Measures Comparison</vt:lpstr>
      <vt:lpstr>Naïve Bayes</vt:lpstr>
      <vt:lpstr>Bayesian Classification: Why?</vt:lpstr>
      <vt:lpstr>Naïve Bayesian Classifier</vt:lpstr>
      <vt:lpstr>Example: Naïve Bayesian Classifier – Training Dataset</vt:lpstr>
      <vt:lpstr>Predicting with Naïve Bayes</vt:lpstr>
      <vt:lpstr>Naïve Bayesian Classifier</vt:lpstr>
      <vt:lpstr>Classifier Evaluation Metrics</vt:lpstr>
      <vt:lpstr>Model Evaluation &amp; Selection</vt:lpstr>
      <vt:lpstr>Evaluating Classifier Accuracy</vt:lpstr>
      <vt:lpstr>Classifier Evaluation Metrics – Primary Measures: TP, TN, FP, FN</vt:lpstr>
      <vt:lpstr>Confusion Matrix</vt:lpstr>
      <vt:lpstr>Precision, Recall, and F-Measures</vt:lpstr>
      <vt:lpstr>Interpreting Precision</vt:lpstr>
      <vt:lpstr>Interpreting Recall</vt:lpstr>
      <vt:lpstr>Recall vs. Precision</vt:lpstr>
      <vt:lpstr>F-Score</vt:lpstr>
      <vt:lpstr>Classifier Evaluation Metrics: Example</vt:lpstr>
      <vt:lpstr>Keep in Mind: Evaluation of Classification Methods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dc:title>
  <dc:creator>Rochelle, William Hamilton</dc:creator>
  <cp:lastModifiedBy>Joshi, Puskar</cp:lastModifiedBy>
  <cp:revision>3</cp:revision>
  <dcterms:created xsi:type="dcterms:W3CDTF">2023-10-23T13:41:11Z</dcterms:created>
  <dcterms:modified xsi:type="dcterms:W3CDTF">2026-10-20T17:09:52Z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0x01010012E3D5299D53DD4F92750B920CACDD8B</vt:lpwstr>
  </property>
</Properties>
</file>