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539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bd91530f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bd91530f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bd91530f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bd91530f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bd91530f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bd91530f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bd91530f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bd91530f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bd91530f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bd91530f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bd91530f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bd91530f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bd91530fa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bd91530fa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bd91530fa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7bd91530fa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bd91530f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7bd91530fa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bd91530fa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bd91530fa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bd91530f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bd91530f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7bd91530fa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7bd91530fa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7bd91530f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7bd91530f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to Know Your Data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Objects and Attribute Types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Objects</a:t>
            </a: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Data sets are comprised of </a:t>
            </a:r>
            <a:r>
              <a:rPr lang="en" dirty="0">
                <a:solidFill>
                  <a:srgbClr val="FF9900"/>
                </a:solidFill>
              </a:rPr>
              <a:t>data objects</a:t>
            </a:r>
            <a:endParaRPr dirty="0">
              <a:solidFill>
                <a:srgbClr val="FF99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Typically a data object is an entity (a row or record in your “table” of data)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Also called </a:t>
            </a:r>
            <a:r>
              <a:rPr lang="en" i="1" dirty="0"/>
              <a:t>samples</a:t>
            </a:r>
            <a:r>
              <a:rPr lang="en" dirty="0"/>
              <a:t>, </a:t>
            </a:r>
            <a:r>
              <a:rPr lang="en" i="1" dirty="0"/>
              <a:t>examples</a:t>
            </a:r>
            <a:r>
              <a:rPr lang="en" dirty="0"/>
              <a:t>, </a:t>
            </a:r>
            <a:r>
              <a:rPr lang="en" i="1" dirty="0"/>
              <a:t>instances</a:t>
            </a:r>
            <a:r>
              <a:rPr lang="en" dirty="0"/>
              <a:t>, </a:t>
            </a:r>
            <a:r>
              <a:rPr lang="en" i="1" dirty="0"/>
              <a:t>datapoints</a:t>
            </a:r>
            <a:r>
              <a:rPr lang="en" dirty="0"/>
              <a:t>, </a:t>
            </a:r>
            <a:r>
              <a:rPr lang="en" i="1" dirty="0"/>
              <a:t>objects</a:t>
            </a:r>
            <a:r>
              <a:rPr lang="en" dirty="0"/>
              <a:t>, </a:t>
            </a:r>
            <a:r>
              <a:rPr lang="en" i="1" dirty="0"/>
              <a:t>tuples</a:t>
            </a:r>
            <a:endParaRPr i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Data objects are described by </a:t>
            </a:r>
            <a:r>
              <a:rPr lang="en" dirty="0">
                <a:solidFill>
                  <a:srgbClr val="FF9900"/>
                </a:solidFill>
              </a:rPr>
              <a:t>attributes</a:t>
            </a:r>
            <a:endParaRPr dirty="0">
              <a:solidFill>
                <a:srgbClr val="FF99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Database rows → data objects → columns (attributes)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Attributes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9900"/>
                </a:solidFill>
              </a:rPr>
              <a:t>Attributes </a:t>
            </a:r>
            <a:r>
              <a:rPr lang="en"/>
              <a:t>(AKA dimensions, features, variables) are data fields that represent a </a:t>
            </a:r>
            <a:r>
              <a:rPr lang="en">
                <a:solidFill>
                  <a:srgbClr val="FF9900"/>
                </a:solidFill>
              </a:rPr>
              <a:t>characteristic </a:t>
            </a:r>
            <a:r>
              <a:rPr lang="en"/>
              <a:t>or </a:t>
            </a:r>
            <a:r>
              <a:rPr lang="en">
                <a:solidFill>
                  <a:srgbClr val="FF9900"/>
                </a:solidFill>
              </a:rPr>
              <a:t>feature </a:t>
            </a:r>
            <a:r>
              <a:rPr lang="en"/>
              <a:t>of a data object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</a:t>
            </a:r>
            <a:r>
              <a:rPr lang="en" i="1"/>
              <a:t>ENumber</a:t>
            </a:r>
            <a:r>
              <a:rPr lang="en"/>
              <a:t>, </a:t>
            </a:r>
            <a:r>
              <a:rPr lang="en" i="1"/>
              <a:t>Name</a:t>
            </a:r>
            <a:r>
              <a:rPr lang="en"/>
              <a:t>, </a:t>
            </a:r>
            <a:r>
              <a:rPr lang="en" i="1"/>
              <a:t>Address</a:t>
            </a:r>
            <a:endParaRPr i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Attributes can be represented by a certain </a:t>
            </a:r>
            <a:r>
              <a:rPr lang="en" i="1"/>
              <a:t>type </a:t>
            </a:r>
            <a:r>
              <a:rPr lang="en"/>
              <a:t>of data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Nominal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Ordinal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Numeric: quantitative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Interval-scaled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Ratio-scaled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 Types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Nominal</a:t>
            </a:r>
            <a:r>
              <a:rPr lang="en"/>
              <a:t>: categories, states, or labels / names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Hair_Color = { Auburn, Black, Blond, Brown, Grey, Red, White }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Marital Status,  Occupation, ID Numbers, Zip Codes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Binary</a:t>
            </a:r>
            <a:r>
              <a:rPr lang="en"/>
              <a:t>: Nominal attribute with only </a:t>
            </a:r>
            <a:r>
              <a:rPr lang="en" u="sng"/>
              <a:t>2 states</a:t>
            </a:r>
            <a:r>
              <a:rPr lang="en"/>
              <a:t> (0 and 1)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Symmetric binary: both outcomes are equally important (e.g., heads/tails)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 binary: outcomes are not equally important (e.g., medical test → positive vs negative)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Convention is to assign 1 to most important outcome (e.g., HIV positive)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Ordinal</a:t>
            </a:r>
            <a:endParaRPr b="1">
              <a:solidFill>
                <a:srgbClr val="FF99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Values have a meaningful order (ranking) but magnitude between successive values is not known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Size = { small, medium, large }, grades, army rankings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 Attribute Types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Interval</a:t>
            </a:r>
            <a:r>
              <a:rPr lang="en"/>
              <a:t>-Scaled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Measured on a scale of equal-sized units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Values have order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E.g., temperature in Celsius or Fahrenheit, calendar dates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400"/>
              <a:buChar char="■"/>
            </a:pPr>
            <a:r>
              <a:rPr lang="en">
                <a:solidFill>
                  <a:srgbClr val="00FFFF"/>
                </a:solidFill>
              </a:rPr>
              <a:t>No true zero-point</a:t>
            </a:r>
            <a:endParaRPr>
              <a:solidFill>
                <a:srgbClr val="00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Ratio</a:t>
            </a:r>
            <a:r>
              <a:rPr lang="en"/>
              <a:t>-Scaled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400"/>
              <a:buChar char="○"/>
            </a:pPr>
            <a:r>
              <a:rPr lang="en">
                <a:solidFill>
                  <a:srgbClr val="00FFFF"/>
                </a:solidFill>
              </a:rPr>
              <a:t>Inherent zero-point</a:t>
            </a:r>
            <a:endParaRPr>
              <a:solidFill>
                <a:srgbClr val="00FFFF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Values are an order of magnitude larger than the unit of measurement (10 awards is twice as many as 5 awards)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E.g., temperature in Kelvin, length, height, weight, monetary quantities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038" y="152400"/>
            <a:ext cx="5089932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vs. Continuous</a:t>
            </a:r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Discrete</a:t>
            </a:r>
            <a:endParaRPr b="1">
              <a:solidFill>
                <a:srgbClr val="FF99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Finite or countably infinite set of values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E.g., Zip codes, profession, customer_id, or the number of words in a document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represented as integer values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Note: Binary attributes are a special case of discrete attributes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Continuous</a:t>
            </a:r>
            <a:endParaRPr b="1">
              <a:solidFill>
                <a:srgbClr val="FF99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real numbers as attribute values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E.g., Temperature, height, or weight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practicality, real values can only be measured and represented using a finite number of digits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Typically represented as a floating-point variable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E.g., 5.5, 0.0001, -2,345.6789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Every Float Number is Continuous</a:t>
            </a:r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shoe size (e.g., { 9, 9.5, 10, 10.5, etc.}) is </a:t>
            </a:r>
            <a:r>
              <a:rPr lang="en" u="sng"/>
              <a:t>not continuous</a:t>
            </a:r>
            <a:endParaRPr u="sng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no such shoe size as 9.102 or 10.789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You can put shoe sizes in a dropdown list. It is not practical, however to put the exact value weight (a continuous value) in a dropdown list (e.g., 142.459201 lbs.)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Statistical Descriptions of Data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Statistical Descriptions of Data</a:t>
            </a:r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Motivation</a:t>
            </a:r>
            <a:r>
              <a:rPr lang="en"/>
              <a:t>: to better understand the data → central tendency, variation, and spread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Data dispersion characteristics</a:t>
            </a:r>
            <a:r>
              <a:rPr lang="en"/>
              <a:t>: median, max, min, quantiles, outliers, variance, etc.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Numerical dimensions correspond to sorted intervals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dispersion: analyzed with multiple granularities of precision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Boxplot or quantile analysis on computed measures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Dispersion analysis on computed measures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Folding measures into numerical dimensions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Boxplot or quantile analysis on the transformed cube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the Central Tendency</a:t>
            </a:r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Mean </a:t>
            </a:r>
            <a:r>
              <a:rPr lang="en"/>
              <a:t>(algebraic measure)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values, divide by total number of values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Median 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Middle value if odd number of values, or average of the middle two values otherwise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rgbClr val="FF9900"/>
                </a:solidFill>
              </a:rPr>
              <a:t>Mode 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Value that occurs most frequently in the data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63" y="1403275"/>
            <a:ext cx="2881300" cy="234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1413" y="1398300"/>
            <a:ext cx="3026734" cy="234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9579" y="1398300"/>
            <a:ext cx="2775759" cy="23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Data Dispersion</a:t>
            </a:r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Quartiles, outliers, and boxplots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Quartiles: Q1 (25%), Median/Q2 (50%), Q3 (75%)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Interquartile range: IQR = Q3 - Q1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Five number summary: min, Q1, median, Q3, max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Boxplot: ends of the box are the quartiles, median is marked, add whiskers and plot outliers individually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Outlier: usually a value higher/lower than 1.5 * IQR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Variance and Standard deviation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Standard deviation measures how spread apart our data is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Small standard deviation means less spread out data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standard deviation means more spread out distribution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Variance = (standard deviation)</a:t>
            </a:r>
            <a:r>
              <a:rPr lang="en" sz="1500" baseline="30000"/>
              <a:t>2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0</TotalTime>
  <Words>745</Words>
  <Application>Microsoft Office PowerPoint</Application>
  <PresentationFormat>On-screen Show (16:9)</PresentationFormat>
  <Paragraphs>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Dark</vt:lpstr>
      <vt:lpstr>Getting to Know Your Data</vt:lpstr>
      <vt:lpstr>Data Objects and Attribute Types</vt:lpstr>
      <vt:lpstr>Data Objects</vt:lpstr>
      <vt:lpstr>Attributes</vt:lpstr>
      <vt:lpstr>Attribute Types</vt:lpstr>
      <vt:lpstr>Numeric Attribute Types</vt:lpstr>
      <vt:lpstr>PowerPoint Presentation</vt:lpstr>
      <vt:lpstr>Discrete vs. Continuous</vt:lpstr>
      <vt:lpstr>Not Every Float Number is Continuous</vt:lpstr>
      <vt:lpstr>Basic Statistical Descriptions of Data</vt:lpstr>
      <vt:lpstr>Basic Statistical Descriptions of Data</vt:lpstr>
      <vt:lpstr>Measuring the Central Tendency</vt:lpstr>
      <vt:lpstr>PowerPoint Presentation</vt:lpstr>
      <vt:lpstr>Measuring Data Dispersion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Rochelle, William Hamilton</cp:lastModifiedBy>
  <cp:revision>1</cp:revision>
  <dcterms:modified xsi:type="dcterms:W3CDTF">2024-09-03T15:30:46Z</dcterms:modified>
</cp:coreProperties>
</file>